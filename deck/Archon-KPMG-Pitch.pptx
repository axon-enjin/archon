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02" y="-7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858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754880" cy="4754880"/>
          </a:xfrm>
          <a:prstGeom prst="ellipse">
            <a:avLst/>
          </a:prstGeom>
          <a:solidFill>
            <a:srgbClr val="1F8A7D">
              <a:alpha val="22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10607040" y="3291840"/>
            <a:ext cx="3291840" cy="329184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" name="Image 0" descr="D:\PROJECTS\archon\client\public\web-app-manifest-512x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05156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22960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making students navigate the org chart.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Service Desk for Higher Education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" y="5212080"/>
            <a:ext cx="2585923" cy="31089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841248" y="5212080"/>
            <a:ext cx="25859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KPMG ACADEMIC INNOVATION 2026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0" y="52120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103F3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Text 8"/>
          <p:cNvSpPr/>
          <p:nvPr/>
        </p:nvSpPr>
        <p:spPr>
          <a:xfrm>
            <a:off x="4572000" y="5212080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AXON ENJIN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Jerico Dela Torre  ·  Rhandie Sales Jr.  ·  Aidan Tiu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Students are stuck in the “experience deficit.”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issue. Many offices. No answers. Existing tools don't actually resolve anything.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Registrar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2615184"/>
            <a:ext cx="329184" cy="3291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30168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3630168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Bursar</a:t>
            </a:r>
            <a:endParaRPr lang="en-US" sz="1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2615184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483096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8"/>
          <p:cNvSpPr/>
          <p:nvPr/>
        </p:nvSpPr>
        <p:spPr>
          <a:xfrm>
            <a:off x="6483096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Aid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326880" y="23317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4A9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0"/>
          <p:cNvSpPr/>
          <p:nvPr/>
        </p:nvSpPr>
        <p:spPr>
          <a:xfrm>
            <a:off x="9326880" y="2331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week</a:t>
            </a:r>
            <a:endParaRPr lang="en-US" sz="19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answers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7772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6" name="Shape 12"/>
          <p:cNvSpPr/>
          <p:nvPr/>
        </p:nvSpPr>
        <p:spPr>
          <a:xfrm>
            <a:off x="10515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152" y="414223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FAQ chatbots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0515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scripts that can't touch an account-specific issue.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4348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1" name="Shape 16"/>
          <p:cNvSpPr/>
          <p:nvPr/>
        </p:nvSpPr>
        <p:spPr>
          <a:xfrm>
            <a:off x="47091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4142232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7091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Ticketing systems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47091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route every routine question to an overloaded human.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0924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6" name="Shape 20"/>
          <p:cNvSpPr/>
          <p:nvPr/>
        </p:nvSpPr>
        <p:spPr>
          <a:xfrm>
            <a:off x="83667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1352" y="41422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3667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runaround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83667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Misrouted between siloed offices — students self-triage and give up.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2/9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828800"/>
            <a:ext cx="4572000" cy="4572000"/>
          </a:xfrm>
          <a:prstGeom prst="ellipse">
            <a:avLst/>
          </a:prstGeom>
          <a:solidFill>
            <a:srgbClr val="1F8A7D">
              <a:alpha val="20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chatbot. An autonomous agent.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Archon reads a student's real records across departments, diagnoses the issue, and resolves it — before a human ever sees it.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763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841248" y="319125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401568"/>
            <a:ext cx="420624" cy="42062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2024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cross-department resolution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92024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spans Registrar + Bursar + Financial Aid + Advising — and gets answered.</a:t>
            </a:r>
            <a:endParaRPr lang="en-US" sz="1180" dirty="0"/>
          </a:p>
        </p:txBody>
      </p:sp>
      <p:sp>
        <p:nvSpPr>
          <p:cNvPr id="13" name="Shape 10"/>
          <p:cNvSpPr/>
          <p:nvPr/>
        </p:nvSpPr>
        <p:spPr>
          <a:xfrm>
            <a:off x="6172200" y="288036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1"/>
          <p:cNvSpPr/>
          <p:nvPr/>
        </p:nvSpPr>
        <p:spPr>
          <a:xfrm>
            <a:off x="6464808" y="319125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40156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54380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 + confidence scoring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754380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tickets resolve with no human. Hard ones escalate with a full handoff packet.</a:t>
            </a:r>
            <a:endParaRPr lang="en-US" sz="1180" dirty="0"/>
          </a:p>
        </p:txBody>
      </p:sp>
      <p:sp>
        <p:nvSpPr>
          <p:cNvPr id="18" name="Shape 14"/>
          <p:cNvSpPr/>
          <p:nvPr/>
        </p:nvSpPr>
        <p:spPr>
          <a:xfrm>
            <a:off x="548640" y="4572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5"/>
          <p:cNvSpPr/>
          <p:nvPr/>
        </p:nvSpPr>
        <p:spPr>
          <a:xfrm>
            <a:off x="841248" y="488289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093208"/>
            <a:ext cx="420624" cy="4206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20240" y="4773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Tri-lingual, by design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1920240" y="52486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in Filipino, English, and Cebuano — auto-detected from how the student types.</a:t>
            </a:r>
            <a:endParaRPr lang="en-US" sz="1180" dirty="0"/>
          </a:p>
        </p:txBody>
      </p:sp>
      <p:sp>
        <p:nvSpPr>
          <p:cNvPr id="23" name="Shape 18"/>
          <p:cNvSpPr/>
          <p:nvPr/>
        </p:nvSpPr>
        <p:spPr>
          <a:xfrm>
            <a:off x="6172200" y="4572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19"/>
          <p:cNvSpPr/>
          <p:nvPr/>
        </p:nvSpPr>
        <p:spPr>
          <a:xfrm>
            <a:off x="6464808" y="488289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5093208"/>
            <a:ext cx="420624" cy="42062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43800" y="4773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M365-native delivery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7543800" y="52486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land in Teams and Outlook — where students already are, not a 4th app.</a:t>
            </a:r>
            <a:endParaRPr lang="en-US" sz="1180" dirty="0"/>
          </a:p>
        </p:txBody>
      </p:sp>
      <p:sp>
        <p:nvSpPr>
          <p:cNvPr id="28" name="Text 2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3/9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a phone in a hallway.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64208"/>
            <a:ext cx="2501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USER INTERFACE — 30%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60120" y="2240280"/>
            <a:ext cx="2148840" cy="4160520"/>
          </a:xfrm>
          <a:prstGeom prst="roundRect">
            <a:avLst>
              <a:gd name="adj" fmla="val 9362"/>
            </a:avLst>
          </a:prstGeom>
          <a:solidFill>
            <a:srgbClr val="0A2E2B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1069848" y="2350008"/>
            <a:ext cx="1929384" cy="3941064"/>
          </a:xfrm>
          <a:prstGeom prst="roundRect">
            <a:avLst>
              <a:gd name="adj" fmla="val 758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1069848" y="2350008"/>
            <a:ext cx="1929384" cy="502920"/>
          </a:xfrm>
          <a:prstGeom prst="rect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/>
          <p:nvPr/>
        </p:nvSpPr>
        <p:spPr>
          <a:xfrm>
            <a:off x="1234440" y="2350008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  ·  Chat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6152" y="303580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1216152" y="358444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1271016" y="4041648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744" y="4160520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73352" y="41422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 lifted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380744" y="44714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 ₱0.00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 Disbursing · 3 days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527048" y="5230368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1069848" y="599846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429000" y="2240280"/>
            <a:ext cx="2148840" cy="4160520"/>
          </a:xfrm>
          <a:prstGeom prst="roundRect">
            <a:avLst>
              <a:gd name="adj" fmla="val 9362"/>
            </a:avLst>
          </a:prstGeom>
          <a:solidFill>
            <a:srgbClr val="0A2E2B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9" name="Shape 16"/>
          <p:cNvSpPr/>
          <p:nvPr/>
        </p:nvSpPr>
        <p:spPr>
          <a:xfrm>
            <a:off x="3538728" y="2350008"/>
            <a:ext cx="1929384" cy="3941064"/>
          </a:xfrm>
          <a:prstGeom prst="roundRect">
            <a:avLst>
              <a:gd name="adj" fmla="val 758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Shape 17"/>
          <p:cNvSpPr/>
          <p:nvPr/>
        </p:nvSpPr>
        <p:spPr>
          <a:xfrm>
            <a:off x="3538728" y="2350008"/>
            <a:ext cx="1929384" cy="502920"/>
          </a:xfrm>
          <a:prstGeom prst="rect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1" name="Text 18"/>
          <p:cNvSpPr/>
          <p:nvPr/>
        </p:nvSpPr>
        <p:spPr>
          <a:xfrm>
            <a:off x="3703320" y="2350008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  ·  Home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85032" y="3035808"/>
            <a:ext cx="1636776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317296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142232" y="3154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Calendar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3813048" y="34838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closes · 2d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 renewal · 14d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3685032" y="4133088"/>
            <a:ext cx="1636776" cy="640080"/>
          </a:xfrm>
          <a:prstGeom prst="roundRect">
            <a:avLst>
              <a:gd name="adj" fmla="val 14286"/>
            </a:avLst>
          </a:prstGeom>
          <a:solidFill>
            <a:srgbClr val="F4A9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7" name="Text 23"/>
          <p:cNvSpPr/>
          <p:nvPr/>
        </p:nvSpPr>
        <p:spPr>
          <a:xfrm>
            <a:off x="3813048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Deadline in 14 days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685032" y="4956048"/>
            <a:ext cx="1636776" cy="640080"/>
          </a:xfrm>
          <a:prstGeom prst="roundRect">
            <a:avLst>
              <a:gd name="adj" fmla="val 14286"/>
            </a:avLst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9" name="Text 25"/>
          <p:cNvSpPr/>
          <p:nvPr/>
        </p:nvSpPr>
        <p:spPr>
          <a:xfrm>
            <a:off x="3685032" y="4956048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inquiry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38728" y="599846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750" dirty="0"/>
          </a:p>
        </p:txBody>
      </p:sp>
      <p:sp>
        <p:nvSpPr>
          <p:cNvPr id="31" name="Shape 27"/>
          <p:cNvSpPr/>
          <p:nvPr/>
        </p:nvSpPr>
        <p:spPr>
          <a:xfrm>
            <a:off x="6263640" y="2377440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2" name="Text 28"/>
          <p:cNvSpPr/>
          <p:nvPr/>
        </p:nvSpPr>
        <p:spPr>
          <a:xfrm>
            <a:off x="6492240" y="233172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Mobile-first, 375px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492240" y="2697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the most common Philippine phone screen — not a desktop afterthought.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263640" y="3401568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5" name="Text 31"/>
          <p:cNvSpPr/>
          <p:nvPr/>
        </p:nvSpPr>
        <p:spPr>
          <a:xfrm>
            <a:off x="6492240" y="33558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Streams on 3G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6492240" y="37216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token in under 3 seconds, even on provincial campus connections.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6263640" y="4425696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8" name="Text 34"/>
          <p:cNvSpPr/>
          <p:nvPr/>
        </p:nvSpPr>
        <p:spPr>
          <a:xfrm>
            <a:off x="6492240" y="43799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 status cards</a:t>
            </a:r>
            <a:endParaRPr lang="en-US" sz="1600" dirty="0"/>
          </a:p>
        </p:txBody>
      </p:sp>
      <p:sp>
        <p:nvSpPr>
          <p:cNvPr id="39" name="Text 35"/>
          <p:cNvSpPr/>
          <p:nvPr/>
        </p:nvSpPr>
        <p:spPr>
          <a:xfrm>
            <a:off x="6492240" y="47457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Balances, holds, and deadlines render as glanceable cards — not walls of text.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6263640" y="5449824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1" name="Text 37"/>
          <p:cNvSpPr/>
          <p:nvPr/>
        </p:nvSpPr>
        <p:spPr>
          <a:xfrm>
            <a:off x="6492240" y="54041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One-tap actions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6492240" y="5769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 and consent prompts keep the friction budget near zero.</a:t>
            </a:r>
            <a:endParaRPr lang="en-US" sz="1250" dirty="0"/>
          </a:p>
        </p:txBody>
      </p:sp>
      <p:sp>
        <p:nvSpPr>
          <p:cNvPr id="43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4/9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products. One system.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a calm, simple chat. Staff get a power tool. Both ship from the same Next.js codebase.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67665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6766560" cy="384048"/>
          </a:xfrm>
          <a:prstGeom prst="rect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960120" y="2414016"/>
            <a:ext cx="118872" cy="118872"/>
          </a:xfrm>
          <a:prstGeom prst="ellipse">
            <a:avLst/>
          </a:prstGeom>
          <a:solidFill>
            <a:srgbClr val="F4A9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1161288" y="2414016"/>
            <a:ext cx="118872" cy="118872"/>
          </a:xfrm>
          <a:prstGeom prst="ellipse">
            <a:avLst/>
          </a:prstGeom>
          <a:solidFill>
            <a:srgbClr val="DCE8E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1362456" y="2414016"/>
            <a:ext cx="118872" cy="118872"/>
          </a:xfrm>
          <a:prstGeom prst="ellipse">
            <a:avLst/>
          </a:prstGeom>
          <a:solidFill>
            <a:srgbClr val="DCE8E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1691640" y="2286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Dashboard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670048"/>
            <a:ext cx="1371600" cy="3273552"/>
          </a:xfrm>
          <a:prstGeom prst="rect">
            <a:avLst/>
          </a:prstGeom>
          <a:solidFill>
            <a:srgbClr val="0A2E2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/>
          <p:nvPr/>
        </p:nvSpPr>
        <p:spPr>
          <a:xfrm>
            <a:off x="960120" y="2971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Tickets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3886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Handoffs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2971800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/>
          <p:nvPr/>
        </p:nvSpPr>
        <p:spPr>
          <a:xfrm>
            <a:off x="2468880" y="2971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Mara 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29718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+ aid delay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3090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6400800" y="30906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331720" y="3630168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2468880" y="363016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Jay 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0" y="36301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dispute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0" y="37490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/>
          <p:nvPr/>
        </p:nvSpPr>
        <p:spPr>
          <a:xfrm>
            <a:off x="6400800" y="3749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0.71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331720" y="4288536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/>
          <p:nvPr/>
        </p:nvSpPr>
        <p:spPr>
          <a:xfrm>
            <a:off x="2468880" y="42885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 L.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0" y="428853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verify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40740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/>
          <p:nvPr/>
        </p:nvSpPr>
        <p:spPr>
          <a:xfrm>
            <a:off x="6400800" y="440740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0.88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5650992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955280" y="237744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523744"/>
            <a:ext cx="347472" cy="347472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AI-suggested replies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732520" y="272491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ticket arrives with a confidence score and an editable, one-click response.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955280" y="361188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3758184"/>
            <a:ext cx="347472" cy="34747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73252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Context-preserving handoff</a:t>
            </a:r>
            <a:endParaRPr lang="en-US" sz="1500" dirty="0"/>
          </a:p>
        </p:txBody>
      </p:sp>
      <p:sp>
        <p:nvSpPr>
          <p:cNvPr id="39" name="Text 35"/>
          <p:cNvSpPr/>
          <p:nvPr/>
        </p:nvSpPr>
        <p:spPr>
          <a:xfrm>
            <a:off x="8732520" y="395935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never repeats their story — the full packet travels with the ticket.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7955280" y="484632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4992624"/>
            <a:ext cx="347472" cy="347472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8732520" y="4828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analytics</a:t>
            </a:r>
            <a:endParaRPr lang="en-US" sz="1500" dirty="0"/>
          </a:p>
        </p:txBody>
      </p:sp>
      <p:sp>
        <p:nvSpPr>
          <p:cNvPr id="43" name="Text 38"/>
          <p:cNvSpPr/>
          <p:nvPr/>
        </p:nvSpPr>
        <p:spPr>
          <a:xfrm>
            <a:off x="8732520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Cost-per-ticket, deflection rate, and CSAT — the numbers leaders ask for.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5/9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question to resolution — autonomously.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77724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164592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1368" y="28529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Ask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types in Filipino, English, or Cebuano.</a:t>
            </a:r>
            <a:endParaRPr 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544" y="3401568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6616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3" name="Shape 9"/>
          <p:cNvSpPr/>
          <p:nvPr/>
        </p:nvSpPr>
        <p:spPr>
          <a:xfrm>
            <a:off x="443484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285292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70332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Orchestrate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74904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plans which systems to query.</a:t>
            </a:r>
            <a:endParaRPr lang="en-US" sz="11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401568"/>
            <a:ext cx="310896" cy="31089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5508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9" name="Shape 13"/>
          <p:cNvSpPr/>
          <p:nvPr/>
        </p:nvSpPr>
        <p:spPr>
          <a:xfrm>
            <a:off x="722376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9208" y="285292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9224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Pull data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653796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read Registrar, Bursar, FA &amp; Advising.</a:t>
            </a:r>
            <a:endParaRPr lang="en-US" sz="11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7384" y="3401568"/>
            <a:ext cx="310896" cy="31089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914400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Shape 17"/>
          <p:cNvSpPr/>
          <p:nvPr/>
        </p:nvSpPr>
        <p:spPr>
          <a:xfrm>
            <a:off x="1001268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8128" y="2852928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28116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· Resolve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932688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Synthesizes a diagnosis and acts (HITL on writes).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777240" y="4892040"/>
            <a:ext cx="5303520" cy="1051560"/>
          </a:xfrm>
          <a:prstGeom prst="roundRect">
            <a:avLst>
              <a:gd name="adj" fmla="val 8696"/>
            </a:avLst>
          </a:prstGeom>
          <a:solidFill>
            <a:srgbClr val="103F3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138928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600200" y="50292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 resolution  </a:t>
            </a:r>
            <a:endParaRPr lang="en-US" sz="1500" dirty="0"/>
          </a:p>
          <a:p>
            <a:pPr marL="0" indent="0">
              <a:buNone/>
            </a:pPr>
            <a:r>
              <a:rPr lang="en-US" sz="11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Routine tickets close instantly — target ≥30% deflection.</a:t>
            </a:r>
            <a:endParaRPr lang="en-US" sz="1500" dirty="0"/>
          </a:p>
        </p:txBody>
      </p:sp>
      <p:sp>
        <p:nvSpPr>
          <p:cNvPr id="32" name="Shape 22"/>
          <p:cNvSpPr/>
          <p:nvPr/>
        </p:nvSpPr>
        <p:spPr>
          <a:xfrm>
            <a:off x="6355080" y="4892040"/>
            <a:ext cx="5349240" cy="1051560"/>
          </a:xfrm>
          <a:prstGeom prst="roundRect">
            <a:avLst>
              <a:gd name="adj" fmla="val 8696"/>
            </a:avLst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5138928"/>
            <a:ext cx="457200" cy="457200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178040" y="50292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handoff  </a:t>
            </a:r>
            <a:endParaRPr lang="en-US" sz="150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 cases escalate with a full context packet + Teams/Outlook alert.</a:t>
            </a:r>
            <a:endParaRPr lang="en-US" sz="1500" dirty="0"/>
          </a:p>
        </p:txBody>
      </p:sp>
      <p:sp>
        <p:nvSpPr>
          <p:cNvPr id="35" name="Text 24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6" name="Text 25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6/9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MODEL DESIGN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database. Isolated, expiring, searchable.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64208"/>
            <a:ext cx="27541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DATA MODL DESIGN — 25%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Cosmos DB · 6 containers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52344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26060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20440" y="260604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27523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87368" y="26060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282696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15568" y="32826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3520440" y="3282696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320" y="342900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087368" y="32826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handoffs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548640" y="3959352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105656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15568" y="3959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policy_embeddings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3520440" y="3959352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3320" y="4105656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087368" y="3959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cache_university_data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548640" y="47091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 key  /institution_id  on every container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6583680" y="233172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9984" y="2478024"/>
            <a:ext cx="310896" cy="310896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360920" y="22951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Isolation by design</a:t>
            </a:r>
            <a:endParaRPr lang="en-US" sz="1450" dirty="0"/>
          </a:p>
        </p:txBody>
      </p:sp>
      <p:sp>
        <p:nvSpPr>
          <p:cNvPr id="29" name="Text 20"/>
          <p:cNvSpPr/>
          <p:nvPr/>
        </p:nvSpPr>
        <p:spPr>
          <a:xfrm>
            <a:off x="7360920" y="264261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/institution_id partition → multi-tenant data separation + DPA 2012 compliance.</a:t>
            </a:r>
            <a:endParaRPr lang="en-US" sz="1130" dirty="0"/>
          </a:p>
        </p:txBody>
      </p:sp>
      <p:sp>
        <p:nvSpPr>
          <p:cNvPr id="30" name="Shape 21"/>
          <p:cNvSpPr/>
          <p:nvPr/>
        </p:nvSpPr>
        <p:spPr>
          <a:xfrm>
            <a:off x="6583680" y="329184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9984" y="3438144"/>
            <a:ext cx="310896" cy="310896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360920" y="32552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Lifecycle built in</a:t>
            </a:r>
            <a:endParaRPr lang="en-US" sz="1450" dirty="0"/>
          </a:p>
        </p:txBody>
      </p:sp>
      <p:sp>
        <p:nvSpPr>
          <p:cNvPr id="33" name="Text 23"/>
          <p:cNvSpPr/>
          <p:nvPr/>
        </p:nvSpPr>
        <p:spPr>
          <a:xfrm>
            <a:off x="7360920" y="360273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messages &amp; handoffs 90d (data minimization); university cache 5 min (fresh + cheap).</a:t>
            </a:r>
            <a:endParaRPr lang="en-US" sz="1130" dirty="0"/>
          </a:p>
        </p:txBody>
      </p:sp>
      <p:sp>
        <p:nvSpPr>
          <p:cNvPr id="34" name="Shape 24"/>
          <p:cNvSpPr/>
          <p:nvPr/>
        </p:nvSpPr>
        <p:spPr>
          <a:xfrm>
            <a:off x="6583680" y="425196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9984" y="4398264"/>
            <a:ext cx="310896" cy="310896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7360920" y="42153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in the same store</a:t>
            </a:r>
            <a:endParaRPr lang="en-US" sz="1450" dirty="0"/>
          </a:p>
        </p:txBody>
      </p:sp>
      <p:sp>
        <p:nvSpPr>
          <p:cNvPr id="37" name="Text 26"/>
          <p:cNvSpPr/>
          <p:nvPr/>
        </p:nvSpPr>
        <p:spPr>
          <a:xfrm>
            <a:off x="7360920" y="456285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over policy_embeddings powers RAG — no bolt-on vector DB.</a:t>
            </a:r>
            <a:endParaRPr lang="en-US" sz="1130" dirty="0"/>
          </a:p>
        </p:txBody>
      </p:sp>
      <p:sp>
        <p:nvSpPr>
          <p:cNvPr id="38" name="Shape 27"/>
          <p:cNvSpPr/>
          <p:nvPr/>
        </p:nvSpPr>
        <p:spPr>
          <a:xfrm>
            <a:off x="6583680" y="521208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9984" y="5358384"/>
            <a:ext cx="310896" cy="310896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360920" y="51755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 degradation</a:t>
            </a:r>
            <a:endParaRPr lang="en-US" sz="1450" dirty="0"/>
          </a:p>
        </p:txBody>
      </p:sp>
      <p:sp>
        <p:nvSpPr>
          <p:cNvPr id="41" name="Text 29"/>
          <p:cNvSpPr/>
          <p:nvPr/>
        </p:nvSpPr>
        <p:spPr>
          <a:xfrm>
            <a:off x="7360920" y="552297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Mock-adapter fallback keeps the app running when a university API is down.</a:t>
            </a:r>
            <a:endParaRPr lang="en-US" sz="1130" dirty="0"/>
          </a:p>
        </p:txBody>
      </p:sp>
      <p:sp>
        <p:nvSpPr>
          <p:cNvPr id="42" name="Text 30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3" name="Text 31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7/9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to the tools students already use.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account. No new app. Archon plugs into the university's existing Microsoft 365 tenant.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1051560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3182112"/>
            <a:ext cx="448056" cy="4480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33272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Entra ID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33272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(OIDC) with the student's existing university account.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630168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30168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3" name="Shape 10"/>
          <p:cNvSpPr/>
          <p:nvPr/>
        </p:nvSpPr>
        <p:spPr>
          <a:xfrm>
            <a:off x="3904488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182112"/>
            <a:ext cx="448056" cy="4480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8620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AI Foundry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886200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for reasoning + Phi-4 for low-cost intent routing.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483096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83096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9" name="Shape 15"/>
          <p:cNvSpPr/>
          <p:nvPr/>
        </p:nvSpPr>
        <p:spPr>
          <a:xfrm>
            <a:off x="6757416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3182112"/>
            <a:ext cx="448056" cy="4480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739128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Cosmos DB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739128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records + native vector search in one serverless store.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9336024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336024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Shape 20"/>
          <p:cNvSpPr/>
          <p:nvPr/>
        </p:nvSpPr>
        <p:spPr>
          <a:xfrm>
            <a:off x="9610344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0656" y="3182112"/>
            <a:ext cx="448056" cy="4480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592056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Graph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592056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panel, Teams adaptive cards &amp; Outlook digests.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777240" y="566928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0A2E2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4"/>
          <p:cNvSpPr/>
          <p:nvPr/>
        </p:nvSpPr>
        <p:spPr>
          <a:xfrm>
            <a:off x="777240" y="5669280"/>
            <a:ext cx="10927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Shipped on  </a:t>
            </a: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16</a:t>
            </a: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full-stack monolith deployed on  </a:t>
            </a: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Vercel</a:t>
            </a: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(Serverless + Edge)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8/9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1F8A7D">
              <a:alpha val="18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PAYOFF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cost center to resolution engine.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9601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₱104 → ₱22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ticket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≈79% lower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46177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≥30%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177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resolved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82753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2753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753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languages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34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Archon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95528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the live app on your phone.</a:t>
            </a:r>
            <a:endParaRPr lang="en-US" sz="1400" dirty="0"/>
          </a:p>
        </p:txBody>
      </p:sp>
      <p:pic>
        <p:nvPicPr>
          <p:cNvPr id="19" name="Image 0" descr="D:\PROJECTS\archon\client\public\web-app-manifest-512x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532120"/>
            <a:ext cx="640080" cy="6400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55448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Axon Enjin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554480" y="5852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Torre · Sales Jr. · Tiu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144000" y="4389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4773168"/>
            <a:ext cx="1188720" cy="11887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0" y="6035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your Vercel URL</a:t>
            </a:r>
            <a:endParaRPr lang="en-US" sz="9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2111332-5ACB-72C9-3EF0-1B835329D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438912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912</Words>
  <Application>Microsoft Office PowerPoint</Application>
  <PresentationFormat>Widescreen</PresentationFormat>
  <Paragraphs>166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Archon — KPMG Academic Innovation 2026</dc:title>
  <dc:subject>PptxGenJS Presentation</dc:subject>
  <dc:creator>Axon Enjin</dc:creator>
  <cp:lastModifiedBy>Carlos Jerico Dela Torre</cp:lastModifiedBy>
  <cp:revision>3</cp:revision>
  <dcterms:created xsi:type="dcterms:W3CDTF">2026-06-14T15:32:40Z</dcterms:created>
  <dcterms:modified xsi:type="dcterms:W3CDTF">2026-06-14T16:15:15Z</dcterms:modified>
</cp:coreProperties>
</file>