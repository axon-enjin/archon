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26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0858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645920"/>
            <a:ext cx="4754880" cy="4754880"/>
          </a:xfrm>
          <a:prstGeom prst="ellipse">
            <a:avLst/>
          </a:prstGeom>
          <a:solidFill>
            <a:srgbClr val="1F8A7D">
              <a:alpha val="22000"/>
            </a:srgbClr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" name="Shape 1"/>
          <p:cNvSpPr/>
          <p:nvPr/>
        </p:nvSpPr>
        <p:spPr>
          <a:xfrm>
            <a:off x="10607040" y="3291840"/>
            <a:ext cx="3291840" cy="3291840"/>
          </a:xfrm>
          <a:prstGeom prst="ellipse">
            <a:avLst/>
          </a:prstGeom>
          <a:solidFill>
            <a:srgbClr val="2DD4BF">
              <a:alpha val="14000"/>
            </a:srgbClr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4" name="Image 0" descr="D:\PROJECTS\archon\client\public\web-app-manifest-512x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051560"/>
            <a:ext cx="1554480" cy="1554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27432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822960" y="37947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 making students navigate the org chart.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Service Desk for Higher Education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41248" y="5212080"/>
            <a:ext cx="2585923" cy="310896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9" name="Text 6"/>
          <p:cNvSpPr/>
          <p:nvPr/>
        </p:nvSpPr>
        <p:spPr>
          <a:xfrm>
            <a:off x="841248" y="5212080"/>
            <a:ext cx="25859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KPMG ACADEMIC INNOVATION 2026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0" y="5212080"/>
            <a:ext cx="1408176" cy="310896"/>
          </a:xfrm>
          <a:prstGeom prst="roundRect">
            <a:avLst>
              <a:gd name="adj" fmla="val 50000"/>
            </a:avLst>
          </a:prstGeom>
          <a:solidFill>
            <a:srgbClr val="103F3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1" name="Text 8"/>
          <p:cNvSpPr/>
          <p:nvPr/>
        </p:nvSpPr>
        <p:spPr>
          <a:xfrm>
            <a:off x="4572000" y="5212080"/>
            <a:ext cx="1408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AXON ENJIN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41248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Carlos Jerico Dela Torre  ·  Rhandie Sales Jr.  ·  Aidan Tiu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Students are stuck in the “experience deficit.”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issue. Many offices. No answers. Existing tools don't actually resolve anything.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33172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F1F6F5"/>
          </a:solidFill>
          <a:ln w="12700">
            <a:solidFill>
              <a:srgbClr val="DCE8E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Registrar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2968" y="2615184"/>
            <a:ext cx="329184" cy="3291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30168" y="233172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F1F6F5"/>
          </a:solidFill>
          <a:ln w="12700">
            <a:solidFill>
              <a:srgbClr val="DCE8E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6"/>
          <p:cNvSpPr/>
          <p:nvPr/>
        </p:nvSpPr>
        <p:spPr>
          <a:xfrm>
            <a:off x="3630168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Bursar</a:t>
            </a:r>
            <a:endParaRPr lang="en-US" sz="15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5896" y="2615184"/>
            <a:ext cx="329184" cy="32918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483096" y="233172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F1F6F5"/>
          </a:solidFill>
          <a:ln w="12700">
            <a:solidFill>
              <a:srgbClr val="DCE8E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8"/>
          <p:cNvSpPr/>
          <p:nvPr/>
        </p:nvSpPr>
        <p:spPr>
          <a:xfrm>
            <a:off x="6483096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 Aid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9326880" y="23317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4A9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4" name="Text 10"/>
          <p:cNvSpPr/>
          <p:nvPr/>
        </p:nvSpPr>
        <p:spPr>
          <a:xfrm>
            <a:off x="9326880" y="23317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week</a:t>
            </a:r>
            <a:endParaRPr lang="en-US" sz="19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answers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777240" y="3703320"/>
            <a:ext cx="34564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8E5"/>
            </a:solidFill>
            <a:prstDash val="solid"/>
          </a:ln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16" name="Shape 12"/>
          <p:cNvSpPr/>
          <p:nvPr/>
        </p:nvSpPr>
        <p:spPr>
          <a:xfrm>
            <a:off x="1051560" y="3977640"/>
            <a:ext cx="713232" cy="713232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152" y="4142232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4800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FAQ chatbots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1051560" y="5166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scripts that can't touch an account-specific issue.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4434840" y="3703320"/>
            <a:ext cx="34564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8E5"/>
            </a:solidFill>
            <a:prstDash val="solid"/>
          </a:ln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21" name="Shape 16"/>
          <p:cNvSpPr/>
          <p:nvPr/>
        </p:nvSpPr>
        <p:spPr>
          <a:xfrm>
            <a:off x="4709160" y="3977640"/>
            <a:ext cx="713232" cy="713232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3752" y="4142232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709160" y="4800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Ticketing systems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4709160" y="5166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route every routine question to an overloaded human.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092440" y="3703320"/>
            <a:ext cx="34564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8E5"/>
            </a:solidFill>
            <a:prstDash val="solid"/>
          </a:ln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26" name="Shape 20"/>
          <p:cNvSpPr/>
          <p:nvPr/>
        </p:nvSpPr>
        <p:spPr>
          <a:xfrm>
            <a:off x="8366760" y="3977640"/>
            <a:ext cx="713232" cy="713232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1352" y="41422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8366760" y="4800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runaround</a:t>
            </a:r>
            <a:endParaRPr lang="en-US" sz="1600" dirty="0"/>
          </a:p>
        </p:txBody>
      </p:sp>
      <p:sp>
        <p:nvSpPr>
          <p:cNvPr id="29" name="Text 22"/>
          <p:cNvSpPr/>
          <p:nvPr/>
        </p:nvSpPr>
        <p:spPr>
          <a:xfrm>
            <a:off x="8366760" y="5166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Misrouted between siloed offices — students self-triage and give up.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r>
              <a:rPr lang="en-US" sz="950" kern="0" spc="100" dirty="0">
                <a:solidFill>
                  <a:srgbClr val="7C93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31" name="Text 24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2/9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828800"/>
            <a:ext cx="4572000" cy="4572000"/>
          </a:xfrm>
          <a:prstGeom prst="ellipse">
            <a:avLst/>
          </a:prstGeom>
          <a:solidFill>
            <a:srgbClr val="1F8A7D">
              <a:alpha val="20000"/>
            </a:srgbClr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30352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a chatbot. An autonomous agent.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Archon reads a student's real records across departments, diagnoses the issue, and resolves it — before a human ever sees it.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7636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Shape 7"/>
          <p:cNvSpPr/>
          <p:nvPr/>
        </p:nvSpPr>
        <p:spPr>
          <a:xfrm>
            <a:off x="841248" y="3191256"/>
            <a:ext cx="841248" cy="841248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3401568"/>
            <a:ext cx="420624" cy="42062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920240" y="308152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Autonomous cross-department resolution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1920240" y="355701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spans Registrar + Bursar + Financial Aid + Advising — and gets answered.</a:t>
            </a:r>
            <a:endParaRPr lang="en-US" sz="1180" dirty="0"/>
          </a:p>
        </p:txBody>
      </p:sp>
      <p:sp>
        <p:nvSpPr>
          <p:cNvPr id="13" name="Shape 10"/>
          <p:cNvSpPr/>
          <p:nvPr/>
        </p:nvSpPr>
        <p:spPr>
          <a:xfrm>
            <a:off x="6172200" y="288036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Shape 11"/>
          <p:cNvSpPr/>
          <p:nvPr/>
        </p:nvSpPr>
        <p:spPr>
          <a:xfrm>
            <a:off x="6464808" y="3191256"/>
            <a:ext cx="841248" cy="841248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3401568"/>
            <a:ext cx="420624" cy="4206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543800" y="308152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Zero-touch + confidence scoring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7543800" y="355701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tickets resolve with no human. Hard ones escalate with a full handoff packet.</a:t>
            </a:r>
            <a:endParaRPr lang="en-US" sz="1180" dirty="0"/>
          </a:p>
        </p:txBody>
      </p:sp>
      <p:sp>
        <p:nvSpPr>
          <p:cNvPr id="18" name="Shape 14"/>
          <p:cNvSpPr/>
          <p:nvPr/>
        </p:nvSpPr>
        <p:spPr>
          <a:xfrm>
            <a:off x="548640" y="45720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Shape 15"/>
          <p:cNvSpPr/>
          <p:nvPr/>
        </p:nvSpPr>
        <p:spPr>
          <a:xfrm>
            <a:off x="841248" y="4882896"/>
            <a:ext cx="841248" cy="841248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093208"/>
            <a:ext cx="420624" cy="42062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920240" y="47731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Tri-lingual, by design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1920240" y="524865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in Filipino, English, and Cebuano — auto-detected from how the student types.</a:t>
            </a:r>
            <a:endParaRPr lang="en-US" sz="1180" dirty="0"/>
          </a:p>
        </p:txBody>
      </p:sp>
      <p:sp>
        <p:nvSpPr>
          <p:cNvPr id="23" name="Shape 18"/>
          <p:cNvSpPr/>
          <p:nvPr/>
        </p:nvSpPr>
        <p:spPr>
          <a:xfrm>
            <a:off x="6172200" y="45720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Shape 19"/>
          <p:cNvSpPr/>
          <p:nvPr/>
        </p:nvSpPr>
        <p:spPr>
          <a:xfrm>
            <a:off x="6464808" y="4882896"/>
            <a:ext cx="841248" cy="841248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5093208"/>
            <a:ext cx="420624" cy="42062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543800" y="47731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M365-native delivery</a:t>
            </a:r>
            <a:endParaRPr lang="en-US" sz="1550" dirty="0"/>
          </a:p>
        </p:txBody>
      </p:sp>
      <p:sp>
        <p:nvSpPr>
          <p:cNvPr id="27" name="Text 21"/>
          <p:cNvSpPr/>
          <p:nvPr/>
        </p:nvSpPr>
        <p:spPr>
          <a:xfrm>
            <a:off x="7543800" y="524865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land in Teams and Outlook — where students already are, not a 4th app.</a:t>
            </a:r>
            <a:endParaRPr lang="en-US" sz="1180" dirty="0"/>
          </a:p>
        </p:txBody>
      </p:sp>
      <p:sp>
        <p:nvSpPr>
          <p:cNvPr id="28" name="Text 22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r>
              <a:rPr lang="en-US" sz="950" kern="0" spc="10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3/9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INTERFACE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a phone in a hallway.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1664208"/>
            <a:ext cx="25017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SCORED: USER INTERFACE — 30%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60120" y="2240280"/>
            <a:ext cx="2148840" cy="4160520"/>
          </a:xfrm>
          <a:prstGeom prst="roundRect">
            <a:avLst>
              <a:gd name="adj" fmla="val 9362"/>
            </a:avLst>
          </a:prstGeom>
          <a:solidFill>
            <a:srgbClr val="0A2E2B"/>
          </a:solidFill>
          <a:ln/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1069848" y="2350008"/>
            <a:ext cx="1929384" cy="3941064"/>
          </a:xfrm>
          <a:prstGeom prst="roundRect">
            <a:avLst>
              <a:gd name="adj" fmla="val 758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8" name="Shape 6"/>
          <p:cNvSpPr/>
          <p:nvPr/>
        </p:nvSpPr>
        <p:spPr>
          <a:xfrm>
            <a:off x="1069848" y="2350008"/>
            <a:ext cx="1929384" cy="502920"/>
          </a:xfrm>
          <a:prstGeom prst="rect">
            <a:avLst/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/>
          <p:nvPr/>
        </p:nvSpPr>
        <p:spPr>
          <a:xfrm>
            <a:off x="1234440" y="2350008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  ·  Chat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216152" y="303580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1" name="Shape 9"/>
          <p:cNvSpPr/>
          <p:nvPr/>
        </p:nvSpPr>
        <p:spPr>
          <a:xfrm>
            <a:off x="1216152" y="358444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2" name="Shape 10"/>
          <p:cNvSpPr/>
          <p:nvPr/>
        </p:nvSpPr>
        <p:spPr>
          <a:xfrm>
            <a:off x="1271016" y="4041648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744" y="4160520"/>
            <a:ext cx="237744" cy="23774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673352" y="41422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 lifted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380744" y="447141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 ₱0.00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 Disbursing · 3 days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527048" y="5230368"/>
            <a:ext cx="1280160" cy="384048"/>
          </a:xfrm>
          <a:prstGeom prst="roundRect">
            <a:avLst>
              <a:gd name="adj" fmla="val 19048"/>
            </a:avLst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7" name="Text 14"/>
          <p:cNvSpPr/>
          <p:nvPr/>
        </p:nvSpPr>
        <p:spPr>
          <a:xfrm>
            <a:off x="1069848" y="5998464"/>
            <a:ext cx="1929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wireframe — drop live screenshot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429000" y="2240280"/>
            <a:ext cx="2148840" cy="4160520"/>
          </a:xfrm>
          <a:prstGeom prst="roundRect">
            <a:avLst>
              <a:gd name="adj" fmla="val 9362"/>
            </a:avLst>
          </a:prstGeom>
          <a:solidFill>
            <a:srgbClr val="0A2E2B"/>
          </a:solidFill>
          <a:ln/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19" name="Shape 16"/>
          <p:cNvSpPr/>
          <p:nvPr/>
        </p:nvSpPr>
        <p:spPr>
          <a:xfrm>
            <a:off x="3538728" y="2350008"/>
            <a:ext cx="1929384" cy="3941064"/>
          </a:xfrm>
          <a:prstGeom prst="roundRect">
            <a:avLst>
              <a:gd name="adj" fmla="val 758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0" name="Shape 17"/>
          <p:cNvSpPr/>
          <p:nvPr/>
        </p:nvSpPr>
        <p:spPr>
          <a:xfrm>
            <a:off x="3538728" y="2350008"/>
            <a:ext cx="1929384" cy="502920"/>
          </a:xfrm>
          <a:prstGeom prst="rect">
            <a:avLst/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1" name="Text 18"/>
          <p:cNvSpPr/>
          <p:nvPr/>
        </p:nvSpPr>
        <p:spPr>
          <a:xfrm>
            <a:off x="3703320" y="2350008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  ·  Home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85032" y="3035808"/>
            <a:ext cx="1636776" cy="914400"/>
          </a:xfrm>
          <a:prstGeom prst="roundRect">
            <a:avLst>
              <a:gd name="adj" fmla="val 10000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3048" y="317296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4142232" y="31546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Academic Calendar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3813048" y="348386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closes · 2d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Scholarship renewal · 14d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3685032" y="4133088"/>
            <a:ext cx="1636776" cy="640080"/>
          </a:xfrm>
          <a:prstGeom prst="roundRect">
            <a:avLst>
              <a:gd name="adj" fmla="val 14286"/>
            </a:avLst>
          </a:prstGeom>
          <a:solidFill>
            <a:srgbClr val="F4A9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7" name="Text 23"/>
          <p:cNvSpPr/>
          <p:nvPr/>
        </p:nvSpPr>
        <p:spPr>
          <a:xfrm>
            <a:off x="3813048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Deadline in 14 days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3685032" y="4956048"/>
            <a:ext cx="1636776" cy="640080"/>
          </a:xfrm>
          <a:prstGeom prst="roundRect">
            <a:avLst>
              <a:gd name="adj" fmla="val 14286"/>
            </a:avLst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9" name="Text 25"/>
          <p:cNvSpPr/>
          <p:nvPr/>
        </p:nvSpPr>
        <p:spPr>
          <a:xfrm>
            <a:off x="3685032" y="4956048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inquiry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3538728" y="5998464"/>
            <a:ext cx="1929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wireframe — drop live screenshot</a:t>
            </a:r>
            <a:endParaRPr lang="en-US" sz="750" dirty="0"/>
          </a:p>
        </p:txBody>
      </p:sp>
      <p:sp>
        <p:nvSpPr>
          <p:cNvPr id="31" name="Shape 27"/>
          <p:cNvSpPr/>
          <p:nvPr/>
        </p:nvSpPr>
        <p:spPr>
          <a:xfrm>
            <a:off x="6263640" y="2377440"/>
            <a:ext cx="82296" cy="86868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2" name="Text 28"/>
          <p:cNvSpPr/>
          <p:nvPr/>
        </p:nvSpPr>
        <p:spPr>
          <a:xfrm>
            <a:off x="6492240" y="233172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Mobile-first, 375px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6492240" y="26974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the most common Philippine phone screen — not a desktop afterthought.</a:t>
            </a:r>
            <a:endParaRPr lang="en-US" sz="1250" dirty="0"/>
          </a:p>
        </p:txBody>
      </p:sp>
      <p:sp>
        <p:nvSpPr>
          <p:cNvPr id="34" name="Shape 30"/>
          <p:cNvSpPr/>
          <p:nvPr/>
        </p:nvSpPr>
        <p:spPr>
          <a:xfrm>
            <a:off x="6263640" y="3401568"/>
            <a:ext cx="82296" cy="86868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5" name="Text 31"/>
          <p:cNvSpPr/>
          <p:nvPr/>
        </p:nvSpPr>
        <p:spPr>
          <a:xfrm>
            <a:off x="6492240" y="335584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Streams on 3G</a:t>
            </a:r>
            <a:endParaRPr lang="en-US" sz="1600" dirty="0"/>
          </a:p>
        </p:txBody>
      </p:sp>
      <p:sp>
        <p:nvSpPr>
          <p:cNvPr id="36" name="Text 32"/>
          <p:cNvSpPr/>
          <p:nvPr/>
        </p:nvSpPr>
        <p:spPr>
          <a:xfrm>
            <a:off x="6492240" y="37216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token in under 3 seconds, even on provincial campus connections.</a:t>
            </a:r>
            <a:endParaRPr lang="en-US" sz="1250" dirty="0"/>
          </a:p>
        </p:txBody>
      </p:sp>
      <p:sp>
        <p:nvSpPr>
          <p:cNvPr id="37" name="Shape 33"/>
          <p:cNvSpPr/>
          <p:nvPr/>
        </p:nvSpPr>
        <p:spPr>
          <a:xfrm>
            <a:off x="6263640" y="4425696"/>
            <a:ext cx="82296" cy="86868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8" name="Text 34"/>
          <p:cNvSpPr/>
          <p:nvPr/>
        </p:nvSpPr>
        <p:spPr>
          <a:xfrm>
            <a:off x="6492240" y="437997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 status cards</a:t>
            </a:r>
            <a:endParaRPr lang="en-US" sz="1600" dirty="0"/>
          </a:p>
        </p:txBody>
      </p:sp>
      <p:sp>
        <p:nvSpPr>
          <p:cNvPr id="39" name="Text 35"/>
          <p:cNvSpPr/>
          <p:nvPr/>
        </p:nvSpPr>
        <p:spPr>
          <a:xfrm>
            <a:off x="6492240" y="47457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Balances, holds, and deadlines render as glanceable cards — not walls of text.</a:t>
            </a:r>
            <a:endParaRPr lang="en-US" sz="1250" dirty="0"/>
          </a:p>
        </p:txBody>
      </p:sp>
      <p:sp>
        <p:nvSpPr>
          <p:cNvPr id="40" name="Shape 36"/>
          <p:cNvSpPr/>
          <p:nvPr/>
        </p:nvSpPr>
        <p:spPr>
          <a:xfrm>
            <a:off x="6263640" y="5449824"/>
            <a:ext cx="82296" cy="86868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1" name="Text 37"/>
          <p:cNvSpPr/>
          <p:nvPr/>
        </p:nvSpPr>
        <p:spPr>
          <a:xfrm>
            <a:off x="6492240" y="540410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One-tap actions</a:t>
            </a:r>
            <a:endParaRPr lang="en-US" sz="1600" dirty="0"/>
          </a:p>
        </p:txBody>
      </p:sp>
      <p:sp>
        <p:nvSpPr>
          <p:cNvPr id="42" name="Text 38"/>
          <p:cNvSpPr/>
          <p:nvPr/>
        </p:nvSpPr>
        <p:spPr>
          <a:xfrm>
            <a:off x="6492240" y="5769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actions and consent prompts keep the friction budget near zero.</a:t>
            </a:r>
            <a:endParaRPr lang="en-US" sz="1250" dirty="0"/>
          </a:p>
        </p:txBody>
      </p:sp>
      <p:sp>
        <p:nvSpPr>
          <p:cNvPr id="43" name="Text 39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r>
              <a:rPr lang="en-US" sz="950" kern="0" spc="100" dirty="0">
                <a:solidFill>
                  <a:srgbClr val="7C93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4/9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INTERFACE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products. One system.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get a calm, simple chat. Staff get a power tool. Both ship from the same Next.js codebase.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676656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E8E5"/>
            </a:solidFill>
            <a:prstDash val="solid"/>
          </a:ln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777240" y="2286000"/>
            <a:ext cx="6766560" cy="384048"/>
          </a:xfrm>
          <a:prstGeom prst="rect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960120" y="2414016"/>
            <a:ext cx="118872" cy="118872"/>
          </a:xfrm>
          <a:prstGeom prst="ellipse">
            <a:avLst/>
          </a:prstGeom>
          <a:solidFill>
            <a:srgbClr val="F4A9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8" name="Shape 6"/>
          <p:cNvSpPr/>
          <p:nvPr/>
        </p:nvSpPr>
        <p:spPr>
          <a:xfrm>
            <a:off x="1161288" y="2414016"/>
            <a:ext cx="118872" cy="118872"/>
          </a:xfrm>
          <a:prstGeom prst="ellipse">
            <a:avLst/>
          </a:prstGeom>
          <a:solidFill>
            <a:srgbClr val="DCE8E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9" name="Shape 7"/>
          <p:cNvSpPr/>
          <p:nvPr/>
        </p:nvSpPr>
        <p:spPr>
          <a:xfrm>
            <a:off x="1362456" y="2414016"/>
            <a:ext cx="118872" cy="118872"/>
          </a:xfrm>
          <a:prstGeom prst="ellipse">
            <a:avLst/>
          </a:prstGeom>
          <a:solidFill>
            <a:srgbClr val="DCE8E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/>
          <p:nvPr/>
        </p:nvSpPr>
        <p:spPr>
          <a:xfrm>
            <a:off x="1691640" y="22860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Dashboard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" y="2670048"/>
            <a:ext cx="1371600" cy="3273552"/>
          </a:xfrm>
          <a:prstGeom prst="rect">
            <a:avLst/>
          </a:prstGeom>
          <a:solidFill>
            <a:srgbClr val="0A2E2B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/>
          <p:nvPr/>
        </p:nvSpPr>
        <p:spPr>
          <a:xfrm>
            <a:off x="960120" y="29718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34290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Tickets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" y="38862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Handoffs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31720" y="2971800"/>
            <a:ext cx="5029200" cy="530352"/>
          </a:xfrm>
          <a:prstGeom prst="roundRect">
            <a:avLst>
              <a:gd name="adj" fmla="val 10345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7" name="Text 15"/>
          <p:cNvSpPr/>
          <p:nvPr/>
        </p:nvSpPr>
        <p:spPr>
          <a:xfrm>
            <a:off x="2468880" y="2971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Mara 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0" y="29718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+ aid delay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0" y="3090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0" name="Text 18"/>
          <p:cNvSpPr/>
          <p:nvPr/>
        </p:nvSpPr>
        <p:spPr>
          <a:xfrm>
            <a:off x="6400800" y="30906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0.93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331720" y="3630168"/>
            <a:ext cx="5029200" cy="530352"/>
          </a:xfrm>
          <a:prstGeom prst="roundRect">
            <a:avLst>
              <a:gd name="adj" fmla="val 10345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/>
          <p:nvPr/>
        </p:nvSpPr>
        <p:spPr>
          <a:xfrm>
            <a:off x="2468880" y="363016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Jay R.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0" y="363016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dispute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0" y="37490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/>
          <p:nvPr/>
        </p:nvSpPr>
        <p:spPr>
          <a:xfrm>
            <a:off x="6400800" y="3749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0.71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331720" y="4288536"/>
            <a:ext cx="5029200" cy="530352"/>
          </a:xfrm>
          <a:prstGeom prst="roundRect">
            <a:avLst>
              <a:gd name="adj" fmla="val 10345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/>
          <p:nvPr/>
        </p:nvSpPr>
        <p:spPr>
          <a:xfrm>
            <a:off x="2468880" y="428853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 L.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57600" y="428853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verify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0" y="440740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0" name="Text 28"/>
          <p:cNvSpPr/>
          <p:nvPr/>
        </p:nvSpPr>
        <p:spPr>
          <a:xfrm>
            <a:off x="6400800" y="440740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0.88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77240" y="5650992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wireframe — drop live screenshot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955280" y="2377440"/>
            <a:ext cx="640080" cy="640080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2523744"/>
            <a:ext cx="347472" cy="347472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8732520" y="23591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AI-suggested replies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8732520" y="272491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ticket arrives with a confidence score and an editable, one-click response.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7955280" y="3611880"/>
            <a:ext cx="640080" cy="640080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1584" y="3758184"/>
            <a:ext cx="347472" cy="347472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873252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Context-preserving handoff</a:t>
            </a:r>
            <a:endParaRPr lang="en-US" sz="1500" dirty="0"/>
          </a:p>
        </p:txBody>
      </p:sp>
      <p:sp>
        <p:nvSpPr>
          <p:cNvPr id="39" name="Text 35"/>
          <p:cNvSpPr/>
          <p:nvPr/>
        </p:nvSpPr>
        <p:spPr>
          <a:xfrm>
            <a:off x="8732520" y="395935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never repeats their story — the full packet travels with the ticket.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7955280" y="4846320"/>
            <a:ext cx="640080" cy="640080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1584" y="4992624"/>
            <a:ext cx="347472" cy="347472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8732520" y="4828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analytics</a:t>
            </a:r>
            <a:endParaRPr lang="en-US" sz="1500" dirty="0"/>
          </a:p>
        </p:txBody>
      </p:sp>
      <p:sp>
        <p:nvSpPr>
          <p:cNvPr id="43" name="Text 38"/>
          <p:cNvSpPr/>
          <p:nvPr/>
        </p:nvSpPr>
        <p:spPr>
          <a:xfrm>
            <a:off x="8732520" y="519379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Cost-per-ticket, deflection rate, and CSAT — the numbers leaders ask for.</a:t>
            </a:r>
            <a:endParaRPr lang="en-US" sz="1200" dirty="0"/>
          </a:p>
        </p:txBody>
      </p:sp>
      <p:sp>
        <p:nvSpPr>
          <p:cNvPr id="44" name="Text 39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r>
              <a:rPr lang="en-US" sz="950" kern="0" spc="100" dirty="0">
                <a:solidFill>
                  <a:srgbClr val="7C93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45" name="Text 40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5/9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question to resolution — autonomously.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777240" y="246888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1645920" y="2697480"/>
            <a:ext cx="640080" cy="640080"/>
          </a:xfrm>
          <a:prstGeom prst="ellipse">
            <a:avLst/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1368" y="28529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· Ask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60120" y="38404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types in Filipino, English, or Cebuano.</a:t>
            </a:r>
            <a:endParaRPr lang="en-US" sz="11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9544" y="3401568"/>
            <a:ext cx="310896" cy="31089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566160" y="246888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3" name="Shape 9"/>
          <p:cNvSpPr/>
          <p:nvPr/>
        </p:nvSpPr>
        <p:spPr>
          <a:xfrm>
            <a:off x="4434840" y="2697480"/>
            <a:ext cx="640080" cy="640080"/>
          </a:xfrm>
          <a:prstGeom prst="ellipse">
            <a:avLst/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0288" y="2852928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703320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· Orchestrate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749040" y="38404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 plans which systems to query.</a:t>
            </a:r>
            <a:endParaRPr lang="en-US" sz="11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4" y="3401568"/>
            <a:ext cx="310896" cy="31089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55080" y="246888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9" name="Shape 13"/>
          <p:cNvSpPr/>
          <p:nvPr/>
        </p:nvSpPr>
        <p:spPr>
          <a:xfrm>
            <a:off x="7223760" y="2697480"/>
            <a:ext cx="640080" cy="640080"/>
          </a:xfrm>
          <a:prstGeom prst="ellipse">
            <a:avLst/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9208" y="285292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492240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· Pull data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6537960" y="38404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 read Registrar, Bursar, FA &amp; Advising.</a:t>
            </a:r>
            <a:endParaRPr lang="en-US" sz="115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7384" y="3401568"/>
            <a:ext cx="310896" cy="310896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9144000" y="246888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5" name="Shape 17"/>
          <p:cNvSpPr/>
          <p:nvPr/>
        </p:nvSpPr>
        <p:spPr>
          <a:xfrm>
            <a:off x="10012680" y="2697480"/>
            <a:ext cx="640080" cy="640080"/>
          </a:xfrm>
          <a:prstGeom prst="ellipse">
            <a:avLst/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8128" y="2852928"/>
            <a:ext cx="329184" cy="329184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9281160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· Resolve</a:t>
            </a:r>
            <a:endParaRPr lang="en-US" sz="1500" dirty="0"/>
          </a:p>
        </p:txBody>
      </p:sp>
      <p:sp>
        <p:nvSpPr>
          <p:cNvPr id="28" name="Text 19"/>
          <p:cNvSpPr/>
          <p:nvPr/>
        </p:nvSpPr>
        <p:spPr>
          <a:xfrm>
            <a:off x="9326880" y="38404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Synthesizes a diagnosis and acts (HITL on writes).</a:t>
            </a:r>
            <a:endParaRPr lang="en-US" sz="1150" dirty="0"/>
          </a:p>
        </p:txBody>
      </p:sp>
      <p:sp>
        <p:nvSpPr>
          <p:cNvPr id="29" name="Shape 20"/>
          <p:cNvSpPr/>
          <p:nvPr/>
        </p:nvSpPr>
        <p:spPr>
          <a:xfrm>
            <a:off x="777240" y="4892040"/>
            <a:ext cx="5303520" cy="1051560"/>
          </a:xfrm>
          <a:prstGeom prst="roundRect">
            <a:avLst>
              <a:gd name="adj" fmla="val 8696"/>
            </a:avLst>
          </a:prstGeom>
          <a:solidFill>
            <a:srgbClr val="103F3A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5138928"/>
            <a:ext cx="457200" cy="457200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1600200" y="50292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Zero-touch resolution  </a:t>
            </a:r>
            <a:endParaRPr lang="en-US" sz="1500" dirty="0"/>
          </a:p>
          <a:p>
            <a:pPr marL="0" indent="0">
              <a:buNone/>
            </a:pPr>
            <a:r>
              <a:rPr lang="en-US" sz="115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Routine tickets close instantly — target ≥30% deflection.</a:t>
            </a:r>
            <a:endParaRPr lang="en-US" sz="1500" dirty="0"/>
          </a:p>
        </p:txBody>
      </p:sp>
      <p:sp>
        <p:nvSpPr>
          <p:cNvPr id="32" name="Shape 22"/>
          <p:cNvSpPr/>
          <p:nvPr/>
        </p:nvSpPr>
        <p:spPr>
          <a:xfrm>
            <a:off x="6355080" y="4892040"/>
            <a:ext cx="5349240" cy="1051560"/>
          </a:xfrm>
          <a:prstGeom prst="roundRect">
            <a:avLst>
              <a:gd name="adj" fmla="val 8696"/>
            </a:avLst>
          </a:prstGeom>
          <a:solidFill>
            <a:srgbClr val="1F8A7D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0" y="5138928"/>
            <a:ext cx="457200" cy="457200"/>
          </a:xfrm>
          <a:prstGeom prst="rect">
            <a:avLst/>
          </a:prstGeom>
        </p:spPr>
      </p:pic>
      <p:sp>
        <p:nvSpPr>
          <p:cNvPr id="34" name="Text 23"/>
          <p:cNvSpPr/>
          <p:nvPr/>
        </p:nvSpPr>
        <p:spPr>
          <a:xfrm>
            <a:off x="7178040" y="50292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handoff  </a:t>
            </a:r>
            <a:endParaRPr lang="en-US" sz="150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 cases escalate with a full context packet + Teams/Outlook alert.</a:t>
            </a:r>
            <a:endParaRPr lang="en-US" sz="1500" dirty="0"/>
          </a:p>
        </p:txBody>
      </p:sp>
      <p:sp>
        <p:nvSpPr>
          <p:cNvPr id="35" name="Text 24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r>
              <a:rPr lang="en-US" sz="950" kern="0" spc="100" dirty="0">
                <a:solidFill>
                  <a:srgbClr val="7C93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36" name="Text 25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6/9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MODEL DESIGN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database. Isolated, expiring, searchable.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1664208"/>
            <a:ext cx="275417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SCORED: DATA MODL DESIGN — 25%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Cosmos DB · 6 containers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52344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5568" y="26060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520440" y="2606040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275234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87368" y="26060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conversations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282696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4290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15568" y="328269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messages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3520440" y="3282696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3320" y="342900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087368" y="328269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handoffs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548640" y="3959352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105656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115568" y="39593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policy_embeddings</a:t>
            </a:r>
            <a:endParaRPr lang="en-US" sz="1250" dirty="0"/>
          </a:p>
        </p:txBody>
      </p:sp>
      <p:sp>
        <p:nvSpPr>
          <p:cNvPr id="22" name="Shape 15"/>
          <p:cNvSpPr/>
          <p:nvPr/>
        </p:nvSpPr>
        <p:spPr>
          <a:xfrm>
            <a:off x="3520440" y="3959352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03320" y="4105656"/>
            <a:ext cx="274320" cy="27432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087368" y="39593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cache_university_data</a:t>
            </a:r>
            <a:endParaRPr lang="en-US" sz="1250" dirty="0"/>
          </a:p>
        </p:txBody>
      </p:sp>
      <p:sp>
        <p:nvSpPr>
          <p:cNvPr id="25" name="Text 17"/>
          <p:cNvSpPr/>
          <p:nvPr/>
        </p:nvSpPr>
        <p:spPr>
          <a:xfrm>
            <a:off x="548640" y="470916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Partition key  /institution_id  on every container</a:t>
            </a:r>
            <a:endParaRPr lang="en-US" sz="1150" dirty="0"/>
          </a:p>
        </p:txBody>
      </p:sp>
      <p:sp>
        <p:nvSpPr>
          <p:cNvPr id="26" name="Shape 18"/>
          <p:cNvSpPr/>
          <p:nvPr/>
        </p:nvSpPr>
        <p:spPr>
          <a:xfrm>
            <a:off x="6583680" y="2331720"/>
            <a:ext cx="603504" cy="60350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9984" y="2478024"/>
            <a:ext cx="310896" cy="310896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7360920" y="22951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Isolation by design</a:t>
            </a:r>
            <a:endParaRPr lang="en-US" sz="1450" dirty="0"/>
          </a:p>
        </p:txBody>
      </p:sp>
      <p:sp>
        <p:nvSpPr>
          <p:cNvPr id="29" name="Text 20"/>
          <p:cNvSpPr/>
          <p:nvPr/>
        </p:nvSpPr>
        <p:spPr>
          <a:xfrm>
            <a:off x="7360920" y="2642616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/institution_id partition → multi-tenant data separation + DPA 2012 compliance.</a:t>
            </a:r>
            <a:endParaRPr lang="en-US" sz="1130" dirty="0"/>
          </a:p>
        </p:txBody>
      </p:sp>
      <p:sp>
        <p:nvSpPr>
          <p:cNvPr id="30" name="Shape 21"/>
          <p:cNvSpPr/>
          <p:nvPr/>
        </p:nvSpPr>
        <p:spPr>
          <a:xfrm>
            <a:off x="6583680" y="3291840"/>
            <a:ext cx="603504" cy="60350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9984" y="3438144"/>
            <a:ext cx="310896" cy="310896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7360920" y="32552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Lifecycle built in</a:t>
            </a:r>
            <a:endParaRPr lang="en-US" sz="1450" dirty="0"/>
          </a:p>
        </p:txBody>
      </p:sp>
      <p:sp>
        <p:nvSpPr>
          <p:cNvPr id="33" name="Text 23"/>
          <p:cNvSpPr/>
          <p:nvPr/>
        </p:nvSpPr>
        <p:spPr>
          <a:xfrm>
            <a:off x="7360920" y="3602736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messages &amp; handoffs 90d (data minimization); university cache 5 min (fresh + cheap).</a:t>
            </a:r>
            <a:endParaRPr lang="en-US" sz="1130" dirty="0"/>
          </a:p>
        </p:txBody>
      </p:sp>
      <p:sp>
        <p:nvSpPr>
          <p:cNvPr id="34" name="Shape 24"/>
          <p:cNvSpPr/>
          <p:nvPr/>
        </p:nvSpPr>
        <p:spPr>
          <a:xfrm>
            <a:off x="6583680" y="4251960"/>
            <a:ext cx="603504" cy="60350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5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29984" y="4398264"/>
            <a:ext cx="310896" cy="310896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7360920" y="42153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 in the same store</a:t>
            </a:r>
            <a:endParaRPr lang="en-US" sz="1450" dirty="0"/>
          </a:p>
        </p:txBody>
      </p:sp>
      <p:sp>
        <p:nvSpPr>
          <p:cNvPr id="37" name="Text 26"/>
          <p:cNvSpPr/>
          <p:nvPr/>
        </p:nvSpPr>
        <p:spPr>
          <a:xfrm>
            <a:off x="7360920" y="4562856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 over policy_embeddings powers RAG — no bolt-on vector DB.</a:t>
            </a:r>
            <a:endParaRPr lang="en-US" sz="1130" dirty="0"/>
          </a:p>
        </p:txBody>
      </p:sp>
      <p:sp>
        <p:nvSpPr>
          <p:cNvPr id="38" name="Shape 27"/>
          <p:cNvSpPr/>
          <p:nvPr/>
        </p:nvSpPr>
        <p:spPr>
          <a:xfrm>
            <a:off x="6583680" y="5212080"/>
            <a:ext cx="603504" cy="60350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9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9984" y="5358384"/>
            <a:ext cx="310896" cy="310896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7360920" y="517550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 degradation</a:t>
            </a:r>
            <a:endParaRPr lang="en-US" sz="1450" dirty="0"/>
          </a:p>
        </p:txBody>
      </p:sp>
      <p:sp>
        <p:nvSpPr>
          <p:cNvPr id="41" name="Text 29"/>
          <p:cNvSpPr/>
          <p:nvPr/>
        </p:nvSpPr>
        <p:spPr>
          <a:xfrm>
            <a:off x="7360920" y="5522976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Mock-adapter fallback keeps the app running when a university API is down.</a:t>
            </a:r>
            <a:endParaRPr lang="en-US" sz="1130" dirty="0"/>
          </a:p>
        </p:txBody>
      </p:sp>
      <p:sp>
        <p:nvSpPr>
          <p:cNvPr id="42" name="Text 30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r>
              <a:rPr lang="en-US" sz="950" kern="0" spc="10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43" name="Text 31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7/9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Native to the tools students already use.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account. No new app. Archon plugs into the university's existing Microsoft 365 tenant.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IDENTITY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26974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1051560" y="2971800"/>
            <a:ext cx="868680" cy="868680"/>
          </a:xfrm>
          <a:prstGeom prst="ellipse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872" y="3182112"/>
            <a:ext cx="448056" cy="4480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33272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 Entra ID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33272" y="4526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 (OIDC) with the student's existing university account.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630168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630168" y="26974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3" name="Shape 10"/>
          <p:cNvSpPr/>
          <p:nvPr/>
        </p:nvSpPr>
        <p:spPr>
          <a:xfrm>
            <a:off x="3904488" y="2971800"/>
            <a:ext cx="868680" cy="868680"/>
          </a:xfrm>
          <a:prstGeom prst="ellipse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3182112"/>
            <a:ext cx="448056" cy="4480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886200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AI Foundry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886200" y="4526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for reasoning + Phi-4 for low-cost intent routing.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6483096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483096" y="26974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9" name="Shape 15"/>
          <p:cNvSpPr/>
          <p:nvPr/>
        </p:nvSpPr>
        <p:spPr>
          <a:xfrm>
            <a:off x="6757416" y="2971800"/>
            <a:ext cx="868680" cy="868680"/>
          </a:xfrm>
          <a:prstGeom prst="ellipse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7728" y="3182112"/>
            <a:ext cx="448056" cy="4480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739128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Cosmos DB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6739128" y="4526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records + native vector search in one serverless store.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9336024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8A7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DELIVERY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9336024" y="26974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5" name="Shape 20"/>
          <p:cNvSpPr/>
          <p:nvPr/>
        </p:nvSpPr>
        <p:spPr>
          <a:xfrm>
            <a:off x="9610344" y="2971800"/>
            <a:ext cx="868680" cy="868680"/>
          </a:xfrm>
          <a:prstGeom prst="ellipse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0656" y="3182112"/>
            <a:ext cx="448056" cy="44805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592056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 Graph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9592056" y="4526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C5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panel, Teams adaptive cards &amp; Outlook digests.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777240" y="5669280"/>
            <a:ext cx="10927080" cy="566928"/>
          </a:xfrm>
          <a:prstGeom prst="roundRect">
            <a:avLst>
              <a:gd name="adj" fmla="val 16129"/>
            </a:avLst>
          </a:prstGeom>
          <a:solidFill>
            <a:srgbClr val="0A2E2B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0" name="Text 24"/>
          <p:cNvSpPr/>
          <p:nvPr/>
        </p:nvSpPr>
        <p:spPr>
          <a:xfrm>
            <a:off x="777240" y="5669280"/>
            <a:ext cx="10927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Shipped on  </a:t>
            </a: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Next.js 16</a:t>
            </a:r>
            <a:r>
              <a:rPr lang="en-US" sz="135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  full-stack monolith deployed on  </a:t>
            </a: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Vercel</a:t>
            </a:r>
            <a:r>
              <a:rPr lang="en-US" sz="1350" dirty="0">
                <a:solidFill>
                  <a:srgbClr val="BFE9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(Serverless + Edge)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A2E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ARCHON</a:t>
            </a:r>
            <a:r>
              <a:rPr lang="en-US" sz="950" kern="0" spc="100" dirty="0">
                <a:solidFill>
                  <a:srgbClr val="7C93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Axon Enjin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7573975" y="6400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 Academic Innovation 2026   ·   8/9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572000" cy="4572000"/>
          </a:xfrm>
          <a:prstGeom prst="ellipse">
            <a:avLst/>
          </a:prstGeom>
          <a:solidFill>
            <a:srgbClr val="1F8A7D">
              <a:alpha val="18000"/>
            </a:srgbClr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PAYOFF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30352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cost center to resolution engine.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3429000" cy="1874520"/>
          </a:xfrm>
          <a:prstGeom prst="roundRect">
            <a:avLst>
              <a:gd name="adj" fmla="val 4878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/>
          <p:nvPr/>
        </p:nvSpPr>
        <p:spPr>
          <a:xfrm>
            <a:off x="960120" y="221284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4A9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₱104 → ₱22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960120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ticket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3383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≈79% lower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2011680"/>
            <a:ext cx="3429000" cy="1874520"/>
          </a:xfrm>
          <a:prstGeom prst="roundRect">
            <a:avLst>
              <a:gd name="adj" fmla="val 4878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/>
          <p:nvPr/>
        </p:nvSpPr>
        <p:spPr>
          <a:xfrm>
            <a:off x="4617720" y="221284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4A9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≥30%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617720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resolved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17720" y="3383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zero-touch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2011680"/>
            <a:ext cx="3429000" cy="1874520"/>
          </a:xfrm>
          <a:prstGeom prst="roundRect">
            <a:avLst>
              <a:gd name="adj" fmla="val 4878"/>
            </a:avLst>
          </a:prstGeom>
          <a:solidFill>
            <a:srgbClr val="103F3A"/>
          </a:solidFill>
          <a:ln w="12700">
            <a:solidFill>
              <a:srgbClr val="176C6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/>
          <p:nvPr/>
        </p:nvSpPr>
        <p:spPr>
          <a:xfrm>
            <a:off x="8275320" y="221284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4A9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24/7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8275320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75320" y="3383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languages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4348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Archon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95528" y="5029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open the live app on your phone.</a:t>
            </a:r>
            <a:endParaRPr lang="en-US" sz="1400" dirty="0"/>
          </a:p>
        </p:txBody>
      </p:sp>
      <p:pic>
        <p:nvPicPr>
          <p:cNvPr id="19" name="Image 0" descr="D:\PROJECTS\archon\client\public\web-app-manifest-512x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5532120"/>
            <a:ext cx="640080" cy="64008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554480" y="5532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Axon Enjin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554480" y="5852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F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 Torre · Sales Jr. · Tiu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144000" y="438912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2B">
                <a:alpha val="18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4773168"/>
            <a:ext cx="1188720" cy="11887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144000" y="60350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C93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your Vercel URL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912</Words>
  <Application>Microsoft Office PowerPoint</Application>
  <PresentationFormat>Widescreen</PresentationFormat>
  <Paragraphs>166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Archon — KPMG Academic Innovation 2026</dc:title>
  <dc:subject>PptxGenJS Presentation</dc:subject>
  <dc:creator>Axon Enjin</dc:creator>
  <cp:lastModifiedBy>Carlos Jerico Dela Torre</cp:lastModifiedBy>
  <cp:revision>2</cp:revision>
  <dcterms:created xsi:type="dcterms:W3CDTF">2026-06-14T15:32:40Z</dcterms:created>
  <dcterms:modified xsi:type="dcterms:W3CDTF">2026-06-14T16:02:50Z</dcterms:modified>
</cp:coreProperties>
</file>