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C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264" y="96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858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645920"/>
            <a:ext cx="4754880" cy="4754880"/>
          </a:xfrm>
          <a:prstGeom prst="ellipse">
            <a:avLst/>
          </a:prstGeom>
          <a:solidFill>
            <a:srgbClr val="1F8A7D">
              <a:alpha val="22000"/>
            </a:srgbClr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10607040" y="3291840"/>
            <a:ext cx="3291840" cy="3291840"/>
          </a:xfrm>
          <a:prstGeom prst="ellipse">
            <a:avLst/>
          </a:prstGeom>
          <a:solidFill>
            <a:srgbClr val="2DD4BF">
              <a:alpha val="14000"/>
            </a:srgbClr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4" name="Image 0" descr="D:\PROJECTS\archon\client\public\web-app-manifest-512x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051560"/>
            <a:ext cx="1554480" cy="1554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743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Archon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822960" y="3794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 making students navigate the org chart.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22960" y="4434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Service Desk for Higher Education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1248" y="5212080"/>
            <a:ext cx="25859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KPMG ACADEMIC INNOVATION 2026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41248" y="5541637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AXON ENJIN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41248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Jerico Dela Torre  ·  Rhandie Sales Jr.  ·  Aidan Tiu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F8A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Students are stuck in the “experience deficit.”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issue. Many offices. No answers. Existing tools don't actually resolve anything.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7240" y="233172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F1F6F5"/>
          </a:solidFill>
          <a:ln w="12700">
            <a:solidFill>
              <a:srgbClr val="DCE8E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Registrar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968" y="2615184"/>
            <a:ext cx="329184" cy="3291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30168" y="233172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F1F6F5"/>
          </a:solidFill>
          <a:ln w="12700">
            <a:solidFill>
              <a:srgbClr val="DCE8E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" name="Text 6"/>
          <p:cNvSpPr/>
          <p:nvPr/>
        </p:nvSpPr>
        <p:spPr>
          <a:xfrm>
            <a:off x="3630168" y="23317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Bursar</a:t>
            </a:r>
            <a:endParaRPr lang="en-US" sz="15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896" y="2615184"/>
            <a:ext cx="329184" cy="32918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483096" y="233172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F1F6F5"/>
          </a:solidFill>
          <a:ln w="12700">
            <a:solidFill>
              <a:srgbClr val="DCE8E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Text 8"/>
          <p:cNvSpPr/>
          <p:nvPr/>
        </p:nvSpPr>
        <p:spPr>
          <a:xfrm>
            <a:off x="6483096" y="23317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Aid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9326880" y="233172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4A9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4" name="Text 10"/>
          <p:cNvSpPr/>
          <p:nvPr/>
        </p:nvSpPr>
        <p:spPr>
          <a:xfrm>
            <a:off x="9326880" y="23317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week</a:t>
            </a:r>
            <a:endParaRPr lang="en-US" sz="19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 answers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777240" y="3703320"/>
            <a:ext cx="345643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8E5"/>
            </a:solidFill>
            <a:prstDash val="solid"/>
          </a:ln>
          <a:effectLst>
            <a:outerShdw blurRad="114300" dist="38100" dir="5400000" algn="bl" rotWithShape="0">
              <a:srgbClr val="0A2E2B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6" name="Shape 12"/>
          <p:cNvSpPr/>
          <p:nvPr/>
        </p:nvSpPr>
        <p:spPr>
          <a:xfrm>
            <a:off x="1051560" y="3977640"/>
            <a:ext cx="713232" cy="713232"/>
          </a:xfrm>
          <a:prstGeom prst="ellipse">
            <a:avLst/>
          </a:prstGeom>
          <a:solidFill>
            <a:srgbClr val="F1F6F5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152" y="4142232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4800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FAQ chatbots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051560" y="51663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scripts that can't touch an account-specific issue.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4434840" y="3703320"/>
            <a:ext cx="345643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8E5"/>
            </a:solidFill>
            <a:prstDash val="solid"/>
          </a:ln>
          <a:effectLst>
            <a:outerShdw blurRad="114300" dist="38100" dir="5400000" algn="bl" rotWithShape="0">
              <a:srgbClr val="0A2E2B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21" name="Shape 16"/>
          <p:cNvSpPr/>
          <p:nvPr/>
        </p:nvSpPr>
        <p:spPr>
          <a:xfrm>
            <a:off x="4709160" y="3977640"/>
            <a:ext cx="713232" cy="713232"/>
          </a:xfrm>
          <a:prstGeom prst="ellipse">
            <a:avLst/>
          </a:prstGeom>
          <a:solidFill>
            <a:srgbClr val="F1F6F5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4142232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709160" y="4800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Ticketing systems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4709160" y="51663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route every routine question to an overloaded human.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8092440" y="3703320"/>
            <a:ext cx="345643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8E5"/>
            </a:solidFill>
            <a:prstDash val="solid"/>
          </a:ln>
          <a:effectLst>
            <a:outerShdw blurRad="114300" dist="38100" dir="5400000" algn="bl" rotWithShape="0">
              <a:srgbClr val="0A2E2B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26" name="Shape 20"/>
          <p:cNvSpPr/>
          <p:nvPr/>
        </p:nvSpPr>
        <p:spPr>
          <a:xfrm>
            <a:off x="8366760" y="3977640"/>
            <a:ext cx="713232" cy="713232"/>
          </a:xfrm>
          <a:prstGeom prst="ellipse">
            <a:avLst/>
          </a:prstGeom>
          <a:solidFill>
            <a:srgbClr val="F1F6F5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1352" y="4142232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366760" y="4800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runaround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8366760" y="51663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Misrouted between siloed offices — students self-triage and give up.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ARCHON</a:t>
            </a:r>
            <a:r>
              <a:rPr lang="en-US" sz="950" kern="0" spc="100" dirty="0">
                <a:solidFill>
                  <a:srgbClr val="7C93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·   Axon Enjin</a:t>
            </a:r>
            <a:endParaRPr lang="en-US" sz="950" dirty="0"/>
          </a:p>
        </p:txBody>
      </p:sp>
      <p:sp>
        <p:nvSpPr>
          <p:cNvPr id="31" name="Text 24"/>
          <p:cNvSpPr/>
          <p:nvPr/>
        </p:nvSpPr>
        <p:spPr>
          <a:xfrm>
            <a:off x="7573975" y="6400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KPMG Academic Innovation 2026   ·   2/9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828800"/>
            <a:ext cx="4572000" cy="4572000"/>
          </a:xfrm>
          <a:prstGeom prst="ellipse">
            <a:avLst/>
          </a:prstGeom>
          <a:solidFill>
            <a:srgbClr val="1F8A7D">
              <a:alpha val="20000"/>
            </a:srgbClr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Cross-Department Data Orchestration &amp; Native AI Agent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B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Archon reads a student's real records across departments, diagnoses the issue, and resolves it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7636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103F3A"/>
          </a:solidFill>
          <a:ln w="12700">
            <a:solidFill>
              <a:srgbClr val="176C61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" name="Shape 7"/>
          <p:cNvSpPr/>
          <p:nvPr/>
        </p:nvSpPr>
        <p:spPr>
          <a:xfrm>
            <a:off x="841248" y="3191256"/>
            <a:ext cx="841248" cy="84124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401568"/>
            <a:ext cx="420624" cy="4206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20240" y="308152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 cross-department resolution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920240" y="3557016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B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spans Registrar + Bursar + Financial Aid + Advising — and gets answered.</a:t>
            </a:r>
            <a:endParaRPr lang="en-US" sz="1180" dirty="0"/>
          </a:p>
        </p:txBody>
      </p:sp>
      <p:sp>
        <p:nvSpPr>
          <p:cNvPr id="13" name="Shape 10"/>
          <p:cNvSpPr/>
          <p:nvPr/>
        </p:nvSpPr>
        <p:spPr>
          <a:xfrm>
            <a:off x="6172200" y="288036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103F3A"/>
          </a:solidFill>
          <a:ln w="12700">
            <a:solidFill>
              <a:srgbClr val="176C61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Shape 11"/>
          <p:cNvSpPr/>
          <p:nvPr/>
        </p:nvSpPr>
        <p:spPr>
          <a:xfrm>
            <a:off x="6464808" y="3191256"/>
            <a:ext cx="841248" cy="84124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3401568"/>
            <a:ext cx="420624" cy="4206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543800" y="308152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Zero-touch + confidence scoring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7543800" y="3557016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B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tickets resolve with no human. Hard ones escalate with a full handoff packet.</a:t>
            </a:r>
            <a:endParaRPr lang="en-US" sz="1180" dirty="0"/>
          </a:p>
        </p:txBody>
      </p:sp>
      <p:sp>
        <p:nvSpPr>
          <p:cNvPr id="18" name="Shape 14"/>
          <p:cNvSpPr/>
          <p:nvPr/>
        </p:nvSpPr>
        <p:spPr>
          <a:xfrm>
            <a:off x="548640" y="457200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103F3A"/>
          </a:solidFill>
          <a:ln w="12700">
            <a:solidFill>
              <a:srgbClr val="176C61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9" name="Shape 15"/>
          <p:cNvSpPr/>
          <p:nvPr/>
        </p:nvSpPr>
        <p:spPr>
          <a:xfrm>
            <a:off x="841248" y="4882896"/>
            <a:ext cx="841248" cy="84124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5093208"/>
            <a:ext cx="420624" cy="4206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920240" y="47731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Tri-lingual, by design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1920240" y="5248656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B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in Filipino, English, and Cebuano — auto-detected from how the student types.</a:t>
            </a:r>
            <a:endParaRPr lang="en-US" sz="1180" dirty="0"/>
          </a:p>
        </p:txBody>
      </p:sp>
      <p:sp>
        <p:nvSpPr>
          <p:cNvPr id="23" name="Shape 18"/>
          <p:cNvSpPr/>
          <p:nvPr/>
        </p:nvSpPr>
        <p:spPr>
          <a:xfrm>
            <a:off x="6172200" y="457200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103F3A"/>
          </a:solidFill>
          <a:ln w="12700">
            <a:solidFill>
              <a:srgbClr val="176C61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4" name="Shape 19"/>
          <p:cNvSpPr/>
          <p:nvPr/>
        </p:nvSpPr>
        <p:spPr>
          <a:xfrm>
            <a:off x="6464808" y="4882896"/>
            <a:ext cx="841248" cy="84124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5093208"/>
            <a:ext cx="420624" cy="42062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543800" y="47731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M365-native delivery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7543800" y="5248656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B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land in Teams and Outlook — where students already are, not a 4th app.</a:t>
            </a:r>
            <a:endParaRPr lang="en-US" sz="1180" dirty="0"/>
          </a:p>
        </p:txBody>
      </p:sp>
      <p:sp>
        <p:nvSpPr>
          <p:cNvPr id="28" name="Text 22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ARCHON</a:t>
            </a:r>
            <a:r>
              <a:rPr lang="en-US" sz="950" kern="0" spc="100" dirty="0">
                <a:solidFill>
                  <a:srgbClr val="BFE9E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·   Axon Enjin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7573975" y="6400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KPMG Academic Innovation 2026   ·   3/9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F8A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INTERFACE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Student’s Mobile Interface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1664208"/>
            <a:ext cx="25017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SCORED: USER INTERFACE — 30%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60120" y="2240280"/>
            <a:ext cx="2148840" cy="4160520"/>
          </a:xfrm>
          <a:prstGeom prst="roundRect">
            <a:avLst>
              <a:gd name="adj" fmla="val 9362"/>
            </a:avLst>
          </a:prstGeom>
          <a:solidFill>
            <a:srgbClr val="0A2E2B"/>
          </a:solidFill>
          <a:ln/>
          <a:effectLst>
            <a:outerShdw blurRad="114300" dist="38100" dir="5400000" algn="bl" rotWithShape="0">
              <a:srgbClr val="0A2E2B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7" name="Shape 5"/>
          <p:cNvSpPr/>
          <p:nvPr/>
        </p:nvSpPr>
        <p:spPr>
          <a:xfrm>
            <a:off x="1069848" y="2350008"/>
            <a:ext cx="1929384" cy="3941064"/>
          </a:xfrm>
          <a:prstGeom prst="roundRect">
            <a:avLst>
              <a:gd name="adj" fmla="val 758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8" name="Shape 6"/>
          <p:cNvSpPr/>
          <p:nvPr/>
        </p:nvSpPr>
        <p:spPr>
          <a:xfrm>
            <a:off x="1069848" y="2350008"/>
            <a:ext cx="1929384" cy="502920"/>
          </a:xfrm>
          <a:prstGeom prst="rect">
            <a:avLst/>
          </a:prstGeom>
          <a:solidFill>
            <a:srgbClr val="1F8A7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1234440" y="2350008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Archon  ·  Chat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16152" y="303580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1F6F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Shape 9"/>
          <p:cNvSpPr/>
          <p:nvPr/>
        </p:nvSpPr>
        <p:spPr>
          <a:xfrm>
            <a:off x="1216152" y="3584448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1F6F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Shape 10"/>
          <p:cNvSpPr/>
          <p:nvPr/>
        </p:nvSpPr>
        <p:spPr>
          <a:xfrm>
            <a:off x="1271016" y="4041648"/>
            <a:ext cx="15544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744" y="4160520"/>
            <a:ext cx="237744" cy="23774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673352" y="41422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 lifted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380744" y="4471416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 ₱0.00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  Disbursing · 3 days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1527048" y="5230368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1F8A7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7" name="Text 14"/>
          <p:cNvSpPr/>
          <p:nvPr/>
        </p:nvSpPr>
        <p:spPr>
          <a:xfrm>
            <a:off x="1069848" y="5998464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7C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wireframe — drop live screenshot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3429000" y="2240280"/>
            <a:ext cx="2148840" cy="4160520"/>
          </a:xfrm>
          <a:prstGeom prst="roundRect">
            <a:avLst>
              <a:gd name="adj" fmla="val 9362"/>
            </a:avLst>
          </a:prstGeom>
          <a:solidFill>
            <a:srgbClr val="0A2E2B"/>
          </a:solidFill>
          <a:ln/>
          <a:effectLst>
            <a:outerShdw blurRad="114300" dist="38100" dir="5400000" algn="bl" rotWithShape="0">
              <a:srgbClr val="0A2E2B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9" name="Shape 16"/>
          <p:cNvSpPr/>
          <p:nvPr/>
        </p:nvSpPr>
        <p:spPr>
          <a:xfrm>
            <a:off x="3538728" y="2350008"/>
            <a:ext cx="1929384" cy="3941064"/>
          </a:xfrm>
          <a:prstGeom prst="roundRect">
            <a:avLst>
              <a:gd name="adj" fmla="val 758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0" name="Shape 17"/>
          <p:cNvSpPr/>
          <p:nvPr/>
        </p:nvSpPr>
        <p:spPr>
          <a:xfrm>
            <a:off x="3538728" y="2350008"/>
            <a:ext cx="1929384" cy="502920"/>
          </a:xfrm>
          <a:prstGeom prst="rect">
            <a:avLst/>
          </a:prstGeom>
          <a:solidFill>
            <a:srgbClr val="1F8A7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1" name="Text 18"/>
          <p:cNvSpPr/>
          <p:nvPr/>
        </p:nvSpPr>
        <p:spPr>
          <a:xfrm>
            <a:off x="3703320" y="2350008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Archon  ·  Home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685032" y="3035808"/>
            <a:ext cx="1636776" cy="914400"/>
          </a:xfrm>
          <a:prstGeom prst="roundRect">
            <a:avLst>
              <a:gd name="adj" fmla="val 10000"/>
            </a:avLst>
          </a:prstGeom>
          <a:solidFill>
            <a:srgbClr val="F1F6F5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3048" y="3172968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142232" y="31546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Academic Calendar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3813048" y="348386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closes · 2d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renewal · 14d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3685032" y="4133088"/>
            <a:ext cx="1636776" cy="640080"/>
          </a:xfrm>
          <a:prstGeom prst="roundRect">
            <a:avLst>
              <a:gd name="adj" fmla="val 14286"/>
            </a:avLst>
          </a:prstGeom>
          <a:solidFill>
            <a:srgbClr val="F4A9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7" name="Text 23"/>
          <p:cNvSpPr/>
          <p:nvPr/>
        </p:nvSpPr>
        <p:spPr>
          <a:xfrm>
            <a:off x="3813048" y="41330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Deadline in 14 days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685032" y="4956048"/>
            <a:ext cx="1636776" cy="640080"/>
          </a:xfrm>
          <a:prstGeom prst="roundRect">
            <a:avLst>
              <a:gd name="adj" fmla="val 14286"/>
            </a:avLst>
          </a:prstGeom>
          <a:solidFill>
            <a:srgbClr val="1F8A7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9" name="Text 25"/>
          <p:cNvSpPr/>
          <p:nvPr/>
        </p:nvSpPr>
        <p:spPr>
          <a:xfrm>
            <a:off x="3685032" y="4956048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inquiry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3538728" y="5998464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7C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wireframe — drop live screenshot</a:t>
            </a:r>
            <a:endParaRPr lang="en-US" sz="750" dirty="0"/>
          </a:p>
        </p:txBody>
      </p:sp>
      <p:sp>
        <p:nvSpPr>
          <p:cNvPr id="31" name="Shape 27"/>
          <p:cNvSpPr/>
          <p:nvPr/>
        </p:nvSpPr>
        <p:spPr>
          <a:xfrm>
            <a:off x="6263640" y="2377440"/>
            <a:ext cx="82296" cy="86868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2" name="Text 28"/>
          <p:cNvSpPr/>
          <p:nvPr/>
        </p:nvSpPr>
        <p:spPr>
          <a:xfrm>
            <a:off x="6492240" y="233172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Mobile-first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6492240" y="269748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the most common Philippine phone screen — not a desktop afterthought.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6263640" y="3401568"/>
            <a:ext cx="82296" cy="86868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5" name="Text 31"/>
          <p:cNvSpPr/>
          <p:nvPr/>
        </p:nvSpPr>
        <p:spPr>
          <a:xfrm>
            <a:off x="6492240" y="335584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Streams on 3G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6492240" y="372160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token in under 3 seconds, even on provincial campus connections.</a:t>
            </a:r>
            <a:endParaRPr lang="en-US" sz="1250" dirty="0"/>
          </a:p>
        </p:txBody>
      </p:sp>
      <p:sp>
        <p:nvSpPr>
          <p:cNvPr id="37" name="Shape 33"/>
          <p:cNvSpPr/>
          <p:nvPr/>
        </p:nvSpPr>
        <p:spPr>
          <a:xfrm>
            <a:off x="6263640" y="4425696"/>
            <a:ext cx="82296" cy="86868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8" name="Text 34"/>
          <p:cNvSpPr/>
          <p:nvPr/>
        </p:nvSpPr>
        <p:spPr>
          <a:xfrm>
            <a:off x="6492240" y="437997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Rich status cards</a:t>
            </a:r>
            <a:endParaRPr lang="en-US" sz="1600" dirty="0"/>
          </a:p>
        </p:txBody>
      </p:sp>
      <p:sp>
        <p:nvSpPr>
          <p:cNvPr id="39" name="Text 35"/>
          <p:cNvSpPr/>
          <p:nvPr/>
        </p:nvSpPr>
        <p:spPr>
          <a:xfrm>
            <a:off x="6492240" y="474573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Balances, holds, and deadlines render as glanceable cards</a:t>
            </a:r>
            <a:endParaRPr lang="en-US" sz="1250" dirty="0"/>
          </a:p>
        </p:txBody>
      </p:sp>
      <p:sp>
        <p:nvSpPr>
          <p:cNvPr id="40" name="Shape 36"/>
          <p:cNvSpPr/>
          <p:nvPr/>
        </p:nvSpPr>
        <p:spPr>
          <a:xfrm>
            <a:off x="6263640" y="5449824"/>
            <a:ext cx="82296" cy="86868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1" name="Text 37"/>
          <p:cNvSpPr/>
          <p:nvPr/>
        </p:nvSpPr>
        <p:spPr>
          <a:xfrm>
            <a:off x="6492240" y="540410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One-tap actions</a:t>
            </a:r>
            <a:endParaRPr lang="en-US" sz="1600" dirty="0"/>
          </a:p>
        </p:txBody>
      </p:sp>
      <p:sp>
        <p:nvSpPr>
          <p:cNvPr id="42" name="Text 38"/>
          <p:cNvSpPr/>
          <p:nvPr/>
        </p:nvSpPr>
        <p:spPr>
          <a:xfrm>
            <a:off x="6492240" y="576986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actions and consent prompts keep the friction budget near zero.</a:t>
            </a:r>
            <a:endParaRPr lang="en-US" sz="1250" dirty="0"/>
          </a:p>
        </p:txBody>
      </p:sp>
      <p:sp>
        <p:nvSpPr>
          <p:cNvPr id="43" name="Text 39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ARCHON</a:t>
            </a:r>
            <a:r>
              <a:rPr lang="en-US" sz="950" kern="0" spc="100" dirty="0">
                <a:solidFill>
                  <a:srgbClr val="7C93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·   Axon Enjin</a:t>
            </a:r>
            <a:endParaRPr lang="en-US" sz="950" dirty="0"/>
          </a:p>
        </p:txBody>
      </p:sp>
      <p:sp>
        <p:nvSpPr>
          <p:cNvPr id="44" name="Text 40"/>
          <p:cNvSpPr/>
          <p:nvPr/>
        </p:nvSpPr>
        <p:spPr>
          <a:xfrm>
            <a:off x="7573975" y="6400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KPMG Academic Innovation 2026   ·   4/9</a:t>
            </a:r>
            <a:endParaRPr lang="en-US" sz="950" dirty="0"/>
          </a:p>
        </p:txBody>
      </p:sp>
      <p:pic>
        <p:nvPicPr>
          <p:cNvPr id="1026" name="Picture 2" descr="No description available.">
            <a:extLst>
              <a:ext uri="{FF2B5EF4-FFF2-40B4-BE49-F238E27FC236}">
                <a16:creationId xmlns:a16="http://schemas.microsoft.com/office/drawing/2014/main" id="{241A08BC-5E22-BDC0-76AD-EC836D875D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10"/>
          <a:stretch>
            <a:fillRect/>
          </a:stretch>
        </p:blipFill>
        <p:spPr bwMode="auto">
          <a:xfrm>
            <a:off x="3416003" y="1843558"/>
            <a:ext cx="2242781" cy="4597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80015CB-A7AD-2C59-27D6-ACD0822B7DFC}"/>
              </a:ext>
            </a:extLst>
          </p:cNvPr>
          <p:cNvSpPr/>
          <p:nvPr/>
        </p:nvSpPr>
        <p:spPr>
          <a:xfrm>
            <a:off x="4554791" y="2240280"/>
            <a:ext cx="1002182" cy="521208"/>
          </a:xfrm>
          <a:prstGeom prst="roundRect">
            <a:avLst/>
          </a:prstGeom>
          <a:solidFill>
            <a:srgbClr val="FCFC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1028" name="Picture 4" descr="No description available.">
            <a:extLst>
              <a:ext uri="{FF2B5EF4-FFF2-40B4-BE49-F238E27FC236}">
                <a16:creationId xmlns:a16="http://schemas.microsoft.com/office/drawing/2014/main" id="{AE02FA2D-7DFA-8711-45B7-632798D1D7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11"/>
          <a:stretch>
            <a:fillRect/>
          </a:stretch>
        </p:blipFill>
        <p:spPr bwMode="auto">
          <a:xfrm>
            <a:off x="930015" y="1843558"/>
            <a:ext cx="2204139" cy="4557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F8A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INTERFACE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Admin’s Desktop Interface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get a calm, simple chat. Staff get a power tool. Both ship from the same Next.js codebase.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676656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8E5"/>
            </a:solidFill>
            <a:prstDash val="solid"/>
          </a:ln>
          <a:effectLst>
            <a:outerShdw blurRad="114300" dist="38100" dir="5400000" algn="bl" rotWithShape="0">
              <a:srgbClr val="0A2E2B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6" name="Shape 4"/>
          <p:cNvSpPr/>
          <p:nvPr/>
        </p:nvSpPr>
        <p:spPr>
          <a:xfrm>
            <a:off x="777240" y="2286000"/>
            <a:ext cx="6766560" cy="384048"/>
          </a:xfrm>
          <a:prstGeom prst="rect">
            <a:avLst/>
          </a:prstGeom>
          <a:solidFill>
            <a:srgbClr val="F1F6F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Shape 5"/>
          <p:cNvSpPr/>
          <p:nvPr/>
        </p:nvSpPr>
        <p:spPr>
          <a:xfrm>
            <a:off x="960120" y="2414016"/>
            <a:ext cx="118872" cy="118872"/>
          </a:xfrm>
          <a:prstGeom prst="ellipse">
            <a:avLst/>
          </a:prstGeom>
          <a:solidFill>
            <a:srgbClr val="F4A9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8" name="Shape 6"/>
          <p:cNvSpPr/>
          <p:nvPr/>
        </p:nvSpPr>
        <p:spPr>
          <a:xfrm>
            <a:off x="1161288" y="2414016"/>
            <a:ext cx="118872" cy="118872"/>
          </a:xfrm>
          <a:prstGeom prst="ellipse">
            <a:avLst/>
          </a:prstGeom>
          <a:solidFill>
            <a:srgbClr val="DCE8E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Shape 7"/>
          <p:cNvSpPr/>
          <p:nvPr/>
        </p:nvSpPr>
        <p:spPr>
          <a:xfrm>
            <a:off x="1362456" y="2414016"/>
            <a:ext cx="118872" cy="118872"/>
          </a:xfrm>
          <a:prstGeom prst="ellipse">
            <a:avLst/>
          </a:prstGeom>
          <a:solidFill>
            <a:srgbClr val="DCE8E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0" name="Text 8"/>
          <p:cNvSpPr/>
          <p:nvPr/>
        </p:nvSpPr>
        <p:spPr>
          <a:xfrm>
            <a:off x="1691640" y="22860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Dashboard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2670048"/>
            <a:ext cx="1371600" cy="3273552"/>
          </a:xfrm>
          <a:prstGeom prst="rect">
            <a:avLst/>
          </a:prstGeom>
          <a:solidFill>
            <a:srgbClr val="0A2E2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/>
          <p:nvPr/>
        </p:nvSpPr>
        <p:spPr>
          <a:xfrm>
            <a:off x="960120" y="2971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3429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E9E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Tickets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3886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E9E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Handoffs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343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E9E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31720" y="2971800"/>
            <a:ext cx="5029200" cy="530352"/>
          </a:xfrm>
          <a:prstGeom prst="roundRect">
            <a:avLst>
              <a:gd name="adj" fmla="val 10345"/>
            </a:avLst>
          </a:prstGeom>
          <a:solidFill>
            <a:srgbClr val="F1F6F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7" name="Text 15"/>
          <p:cNvSpPr/>
          <p:nvPr/>
        </p:nvSpPr>
        <p:spPr>
          <a:xfrm>
            <a:off x="2468880" y="297180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Mara 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0" y="297180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+ aid delay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0" y="309067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0" name="Text 18"/>
          <p:cNvSpPr/>
          <p:nvPr/>
        </p:nvSpPr>
        <p:spPr>
          <a:xfrm>
            <a:off x="6400800" y="30906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0.93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331720" y="3630168"/>
            <a:ext cx="5029200" cy="530352"/>
          </a:xfrm>
          <a:prstGeom prst="roundRect">
            <a:avLst>
              <a:gd name="adj" fmla="val 10345"/>
            </a:avLst>
          </a:prstGeom>
          <a:solidFill>
            <a:srgbClr val="F1F6F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2" name="Text 20"/>
          <p:cNvSpPr/>
          <p:nvPr/>
        </p:nvSpPr>
        <p:spPr>
          <a:xfrm>
            <a:off x="2468880" y="363016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Jay R.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0" y="363016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dispute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0" y="374904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5" name="Text 23"/>
          <p:cNvSpPr/>
          <p:nvPr/>
        </p:nvSpPr>
        <p:spPr>
          <a:xfrm>
            <a:off x="6400800" y="3749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0.71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331720" y="4288536"/>
            <a:ext cx="5029200" cy="530352"/>
          </a:xfrm>
          <a:prstGeom prst="roundRect">
            <a:avLst>
              <a:gd name="adj" fmla="val 10345"/>
            </a:avLst>
          </a:prstGeom>
          <a:solidFill>
            <a:srgbClr val="F1F6F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7" name="Text 25"/>
          <p:cNvSpPr/>
          <p:nvPr/>
        </p:nvSpPr>
        <p:spPr>
          <a:xfrm>
            <a:off x="2468880" y="4288536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 L.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0" y="428853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verify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0" y="4407408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0" name="Text 28"/>
          <p:cNvSpPr/>
          <p:nvPr/>
        </p:nvSpPr>
        <p:spPr>
          <a:xfrm>
            <a:off x="6400800" y="44074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0.88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" y="565099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C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wireframe — drop live screenshot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955280" y="2377440"/>
            <a:ext cx="640080" cy="640080"/>
          </a:xfrm>
          <a:prstGeom prst="ellipse">
            <a:avLst/>
          </a:prstGeom>
          <a:solidFill>
            <a:srgbClr val="F1F6F5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4" y="2523744"/>
            <a:ext cx="347472" cy="347472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8732520" y="25054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AI-suggested replies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7955280" y="3611880"/>
            <a:ext cx="640080" cy="640080"/>
          </a:xfrm>
          <a:prstGeom prst="ellipse">
            <a:avLst/>
          </a:prstGeom>
          <a:solidFill>
            <a:srgbClr val="F1F6F5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4" y="3758184"/>
            <a:ext cx="347472" cy="347472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8732520" y="3715077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Context-preserving handoff</a:t>
            </a:r>
            <a:endParaRPr lang="en-US" sz="1500" dirty="0"/>
          </a:p>
        </p:txBody>
      </p:sp>
      <p:sp>
        <p:nvSpPr>
          <p:cNvPr id="40" name="Shape 36"/>
          <p:cNvSpPr/>
          <p:nvPr/>
        </p:nvSpPr>
        <p:spPr>
          <a:xfrm>
            <a:off x="7955280" y="4846320"/>
            <a:ext cx="640080" cy="640080"/>
          </a:xfrm>
          <a:prstGeom prst="ellipse">
            <a:avLst/>
          </a:prstGeom>
          <a:solidFill>
            <a:srgbClr val="F1F6F5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1584" y="4992624"/>
            <a:ext cx="347472" cy="347472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8732520" y="49606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analytics</a:t>
            </a:r>
            <a:endParaRPr lang="en-US" sz="1500" dirty="0"/>
          </a:p>
        </p:txBody>
      </p:sp>
      <p:sp>
        <p:nvSpPr>
          <p:cNvPr id="44" name="Text 39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ARCHON</a:t>
            </a:r>
            <a:r>
              <a:rPr lang="en-US" sz="950" kern="0" spc="100" dirty="0">
                <a:solidFill>
                  <a:srgbClr val="7C93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·   Axon Enjin</a:t>
            </a:r>
            <a:endParaRPr lang="en-US" sz="950" dirty="0"/>
          </a:p>
        </p:txBody>
      </p:sp>
      <p:sp>
        <p:nvSpPr>
          <p:cNvPr id="45" name="Text 40"/>
          <p:cNvSpPr/>
          <p:nvPr/>
        </p:nvSpPr>
        <p:spPr>
          <a:xfrm>
            <a:off x="7573975" y="6400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KPMG Academic Innovation 2026   ·   5/9</a:t>
            </a:r>
            <a:endParaRPr lang="en-US" sz="95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E80719E-0D33-843E-60D7-B8EA06C260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258970"/>
            <a:ext cx="6766560" cy="37175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F8A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question to resolution, autonomously.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777240" y="2468880"/>
            <a:ext cx="2377440" cy="2103120"/>
          </a:xfrm>
          <a:prstGeom prst="roundRect">
            <a:avLst>
              <a:gd name="adj" fmla="val 4348"/>
            </a:avLst>
          </a:prstGeom>
          <a:solidFill>
            <a:srgbClr val="F1F6F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Shape 5"/>
          <p:cNvSpPr/>
          <p:nvPr/>
        </p:nvSpPr>
        <p:spPr>
          <a:xfrm>
            <a:off x="1645920" y="2697480"/>
            <a:ext cx="640080" cy="640080"/>
          </a:xfrm>
          <a:prstGeom prst="ellipse">
            <a:avLst/>
          </a:prstGeom>
          <a:solidFill>
            <a:srgbClr val="1F8A7D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368" y="285292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474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Ask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60120" y="38404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types in Filipino, English, or Cebuano.</a:t>
            </a:r>
            <a:endParaRPr lang="en-US" sz="11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9544" y="3401568"/>
            <a:ext cx="310896" cy="3108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566160" y="2468880"/>
            <a:ext cx="2377440" cy="2103120"/>
          </a:xfrm>
          <a:prstGeom prst="roundRect">
            <a:avLst>
              <a:gd name="adj" fmla="val 4348"/>
            </a:avLst>
          </a:prstGeom>
          <a:solidFill>
            <a:srgbClr val="F1F6F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Shape 9"/>
          <p:cNvSpPr/>
          <p:nvPr/>
        </p:nvSpPr>
        <p:spPr>
          <a:xfrm>
            <a:off x="4434840" y="2697480"/>
            <a:ext cx="640080" cy="640080"/>
          </a:xfrm>
          <a:prstGeom prst="ellipse">
            <a:avLst/>
          </a:prstGeom>
          <a:solidFill>
            <a:srgbClr val="1F8A7D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0288" y="285292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703320" y="3474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· Orchestrate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749040" y="38404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 plans which systems to query.</a:t>
            </a:r>
            <a:endParaRPr lang="en-US" sz="11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4" y="3401568"/>
            <a:ext cx="310896" cy="310896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355080" y="2468880"/>
            <a:ext cx="2377440" cy="2103120"/>
          </a:xfrm>
          <a:prstGeom prst="roundRect">
            <a:avLst>
              <a:gd name="adj" fmla="val 4348"/>
            </a:avLst>
          </a:prstGeom>
          <a:solidFill>
            <a:srgbClr val="F1F6F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9" name="Shape 13"/>
          <p:cNvSpPr/>
          <p:nvPr/>
        </p:nvSpPr>
        <p:spPr>
          <a:xfrm>
            <a:off x="7223760" y="2697480"/>
            <a:ext cx="640080" cy="640080"/>
          </a:xfrm>
          <a:prstGeom prst="ellipse">
            <a:avLst/>
          </a:prstGeom>
          <a:solidFill>
            <a:srgbClr val="1F8A7D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9208" y="2852928"/>
            <a:ext cx="329184" cy="32918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492240" y="3474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· Pull data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6537960" y="38404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Adapters read Registrar, Bursar, FA &amp; Advising.</a:t>
            </a:r>
            <a:endParaRPr lang="en-US" sz="115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7384" y="3401568"/>
            <a:ext cx="310896" cy="310896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9144000" y="2468880"/>
            <a:ext cx="2377440" cy="2103120"/>
          </a:xfrm>
          <a:prstGeom prst="roundRect">
            <a:avLst>
              <a:gd name="adj" fmla="val 4348"/>
            </a:avLst>
          </a:prstGeom>
          <a:solidFill>
            <a:srgbClr val="F1F6F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5" name="Shape 17"/>
          <p:cNvSpPr/>
          <p:nvPr/>
        </p:nvSpPr>
        <p:spPr>
          <a:xfrm>
            <a:off x="10012680" y="2697480"/>
            <a:ext cx="640080" cy="640080"/>
          </a:xfrm>
          <a:prstGeom prst="ellipse">
            <a:avLst/>
          </a:prstGeom>
          <a:solidFill>
            <a:srgbClr val="1F8A7D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68128" y="2852928"/>
            <a:ext cx="329184" cy="32918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9281160" y="3474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· Resolve</a:t>
            </a:r>
            <a:endParaRPr lang="en-US" sz="1500" dirty="0"/>
          </a:p>
        </p:txBody>
      </p:sp>
      <p:sp>
        <p:nvSpPr>
          <p:cNvPr id="28" name="Text 19"/>
          <p:cNvSpPr/>
          <p:nvPr/>
        </p:nvSpPr>
        <p:spPr>
          <a:xfrm>
            <a:off x="9326880" y="38404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Synthesizes a diagnosis and acts (HITL on writes).</a:t>
            </a:r>
            <a:endParaRPr lang="en-US" sz="1150" dirty="0"/>
          </a:p>
        </p:txBody>
      </p:sp>
      <p:sp>
        <p:nvSpPr>
          <p:cNvPr id="29" name="Shape 20"/>
          <p:cNvSpPr/>
          <p:nvPr/>
        </p:nvSpPr>
        <p:spPr>
          <a:xfrm>
            <a:off x="777240" y="489204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103F3A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" y="5138928"/>
            <a:ext cx="457200" cy="45720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600200" y="50292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Zero-touch resolution  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BFE9E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Routine tickets close instantly with target ≥30% deflection.</a:t>
            </a:r>
            <a:endParaRPr lang="en-US" sz="1500" dirty="0"/>
          </a:p>
        </p:txBody>
      </p:sp>
      <p:sp>
        <p:nvSpPr>
          <p:cNvPr id="32" name="Shape 22"/>
          <p:cNvSpPr/>
          <p:nvPr/>
        </p:nvSpPr>
        <p:spPr>
          <a:xfrm>
            <a:off x="6355080" y="489204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1F8A7D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0" y="5138928"/>
            <a:ext cx="457200" cy="45720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7178040" y="50292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 handoff  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 cases escalate with a full context packet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Teams/Outlook alert.</a:t>
            </a:r>
            <a:endParaRPr lang="en-US" sz="1500" dirty="0"/>
          </a:p>
        </p:txBody>
      </p:sp>
      <p:sp>
        <p:nvSpPr>
          <p:cNvPr id="35" name="Text 24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ARCHON</a:t>
            </a:r>
            <a:r>
              <a:rPr lang="en-US" sz="950" kern="0" spc="100" dirty="0">
                <a:solidFill>
                  <a:srgbClr val="7C93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·   Axon Enjin</a:t>
            </a:r>
            <a:endParaRPr lang="en-US" sz="950" dirty="0"/>
          </a:p>
        </p:txBody>
      </p:sp>
      <p:sp>
        <p:nvSpPr>
          <p:cNvPr id="36" name="Text 25"/>
          <p:cNvSpPr/>
          <p:nvPr/>
        </p:nvSpPr>
        <p:spPr>
          <a:xfrm>
            <a:off x="7573975" y="6400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KPMG Academic Innovation 2026   ·   6/9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MODEL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database. Isolated, expiring, searchable.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1664208"/>
            <a:ext cx="275417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SCORED: DATA MODL DESIGN — 25%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FE9E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Cosmos DB · 6 containers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2880360" cy="566928"/>
          </a:xfrm>
          <a:prstGeom prst="roundRect">
            <a:avLst>
              <a:gd name="adj" fmla="val 12903"/>
            </a:avLst>
          </a:prstGeom>
          <a:solidFill>
            <a:srgbClr val="103F3A"/>
          </a:solidFill>
          <a:ln w="12700">
            <a:solidFill>
              <a:srgbClr val="176C61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52344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" y="26060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520440" y="2606040"/>
            <a:ext cx="2880360" cy="566928"/>
          </a:xfrm>
          <a:prstGeom prst="roundRect">
            <a:avLst>
              <a:gd name="adj" fmla="val 12903"/>
            </a:avLst>
          </a:prstGeom>
          <a:solidFill>
            <a:srgbClr val="103F3A"/>
          </a:solidFill>
          <a:ln w="12700">
            <a:solidFill>
              <a:srgbClr val="176C61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275234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87368" y="26060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conversations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282696"/>
            <a:ext cx="2880360" cy="566928"/>
          </a:xfrm>
          <a:prstGeom prst="roundRect">
            <a:avLst>
              <a:gd name="adj" fmla="val 12903"/>
            </a:avLst>
          </a:prstGeom>
          <a:solidFill>
            <a:srgbClr val="103F3A"/>
          </a:solidFill>
          <a:ln w="12700">
            <a:solidFill>
              <a:srgbClr val="176C61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4290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15568" y="328269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3520440" y="3282696"/>
            <a:ext cx="2880360" cy="566928"/>
          </a:xfrm>
          <a:prstGeom prst="roundRect">
            <a:avLst>
              <a:gd name="adj" fmla="val 12903"/>
            </a:avLst>
          </a:prstGeom>
          <a:solidFill>
            <a:srgbClr val="103F3A"/>
          </a:solidFill>
          <a:ln w="12700">
            <a:solidFill>
              <a:srgbClr val="176C61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3320" y="342900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087368" y="328269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handoffs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48640" y="3959352"/>
            <a:ext cx="2880360" cy="566928"/>
          </a:xfrm>
          <a:prstGeom prst="roundRect">
            <a:avLst>
              <a:gd name="adj" fmla="val 12903"/>
            </a:avLst>
          </a:prstGeom>
          <a:solidFill>
            <a:srgbClr val="103F3A"/>
          </a:solidFill>
          <a:ln w="12700">
            <a:solidFill>
              <a:srgbClr val="176C61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105656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15568" y="395935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policy_embeddings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3520440" y="3959352"/>
            <a:ext cx="2880360" cy="566928"/>
          </a:xfrm>
          <a:prstGeom prst="roundRect">
            <a:avLst>
              <a:gd name="adj" fmla="val 12903"/>
            </a:avLst>
          </a:prstGeom>
          <a:solidFill>
            <a:srgbClr val="103F3A"/>
          </a:solidFill>
          <a:ln w="12700">
            <a:solidFill>
              <a:srgbClr val="176C61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4105656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087368" y="395935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cache_university_data</a:t>
            </a:r>
            <a:endParaRPr lang="en-US" sz="1250" dirty="0"/>
          </a:p>
        </p:txBody>
      </p:sp>
      <p:sp>
        <p:nvSpPr>
          <p:cNvPr id="25" name="Text 17"/>
          <p:cNvSpPr/>
          <p:nvPr/>
        </p:nvSpPr>
        <p:spPr>
          <a:xfrm>
            <a:off x="548640" y="47091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Partition key  /institution_id  on every container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6583680" y="2331720"/>
            <a:ext cx="603504" cy="6035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9984" y="2478024"/>
            <a:ext cx="310896" cy="310896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360920" y="229514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Isolation by design</a:t>
            </a:r>
            <a:endParaRPr lang="en-US" sz="1450" dirty="0"/>
          </a:p>
        </p:txBody>
      </p:sp>
      <p:sp>
        <p:nvSpPr>
          <p:cNvPr id="29" name="Text 20"/>
          <p:cNvSpPr/>
          <p:nvPr/>
        </p:nvSpPr>
        <p:spPr>
          <a:xfrm>
            <a:off x="7360920" y="2642616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B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/institution_id partition → multi-tenant data separation + DPA 2012 compliance.</a:t>
            </a:r>
            <a:endParaRPr lang="en-US" sz="1130" dirty="0"/>
          </a:p>
        </p:txBody>
      </p:sp>
      <p:sp>
        <p:nvSpPr>
          <p:cNvPr id="30" name="Shape 21"/>
          <p:cNvSpPr/>
          <p:nvPr/>
        </p:nvSpPr>
        <p:spPr>
          <a:xfrm>
            <a:off x="6583680" y="3291840"/>
            <a:ext cx="603504" cy="6035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9984" y="3438144"/>
            <a:ext cx="310896" cy="310896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360920" y="325526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Lifecycle built in</a:t>
            </a:r>
            <a:endParaRPr lang="en-US" sz="1450" dirty="0"/>
          </a:p>
        </p:txBody>
      </p:sp>
      <p:sp>
        <p:nvSpPr>
          <p:cNvPr id="33" name="Text 23"/>
          <p:cNvSpPr/>
          <p:nvPr/>
        </p:nvSpPr>
        <p:spPr>
          <a:xfrm>
            <a:off x="7360920" y="3602736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B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TTL: messages &amp; handoffs 90d (data minimization);</a:t>
            </a:r>
          </a:p>
          <a:p>
            <a:pPr marL="0" indent="0">
              <a:buNone/>
            </a:pPr>
            <a:r>
              <a:rPr lang="en-US" sz="1130" dirty="0">
                <a:solidFill>
                  <a:srgbClr val="B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cache 5 min (fresh + cheap).</a:t>
            </a:r>
            <a:endParaRPr lang="en-US" sz="1130" dirty="0"/>
          </a:p>
        </p:txBody>
      </p:sp>
      <p:sp>
        <p:nvSpPr>
          <p:cNvPr id="34" name="Shape 24"/>
          <p:cNvSpPr/>
          <p:nvPr/>
        </p:nvSpPr>
        <p:spPr>
          <a:xfrm>
            <a:off x="6583680" y="4251960"/>
            <a:ext cx="603504" cy="6035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9984" y="4398264"/>
            <a:ext cx="310896" cy="310896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7360920" y="421538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 in the same store</a:t>
            </a:r>
            <a:endParaRPr lang="en-US" sz="1450" dirty="0"/>
          </a:p>
        </p:txBody>
      </p:sp>
      <p:sp>
        <p:nvSpPr>
          <p:cNvPr id="37" name="Text 26"/>
          <p:cNvSpPr/>
          <p:nvPr/>
        </p:nvSpPr>
        <p:spPr>
          <a:xfrm>
            <a:off x="7360920" y="4562856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B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over policy_embeddings powers RAG</a:t>
            </a:r>
          </a:p>
          <a:p>
            <a:pPr marL="0" indent="0">
              <a:buNone/>
            </a:pPr>
            <a:r>
              <a:rPr lang="en-US" sz="1130" dirty="0">
                <a:solidFill>
                  <a:srgbClr val="B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bolt-on vector DB.</a:t>
            </a:r>
            <a:endParaRPr lang="en-US" sz="1130" dirty="0"/>
          </a:p>
        </p:txBody>
      </p:sp>
      <p:sp>
        <p:nvSpPr>
          <p:cNvPr id="38" name="Shape 27"/>
          <p:cNvSpPr/>
          <p:nvPr/>
        </p:nvSpPr>
        <p:spPr>
          <a:xfrm>
            <a:off x="6583680" y="5212080"/>
            <a:ext cx="603504" cy="6035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9984" y="5358384"/>
            <a:ext cx="310896" cy="310896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7360920" y="517550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Graceful degradation</a:t>
            </a:r>
            <a:endParaRPr lang="en-US" sz="1450" dirty="0"/>
          </a:p>
        </p:txBody>
      </p:sp>
      <p:sp>
        <p:nvSpPr>
          <p:cNvPr id="41" name="Text 29"/>
          <p:cNvSpPr/>
          <p:nvPr/>
        </p:nvSpPr>
        <p:spPr>
          <a:xfrm>
            <a:off x="7360920" y="5522976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B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Mock-adapter fallback keeps the app running when a university API is down.</a:t>
            </a:r>
            <a:endParaRPr lang="en-US" sz="1130" dirty="0"/>
          </a:p>
        </p:txBody>
      </p:sp>
      <p:sp>
        <p:nvSpPr>
          <p:cNvPr id="42" name="Text 30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ARCHON</a:t>
            </a:r>
            <a:r>
              <a:rPr lang="en-US" sz="950" kern="0" spc="100" dirty="0">
                <a:solidFill>
                  <a:srgbClr val="BFE9E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·   Axon Enjin</a:t>
            </a:r>
            <a:endParaRPr lang="en-US" sz="950" dirty="0"/>
          </a:p>
        </p:txBody>
      </p:sp>
      <p:sp>
        <p:nvSpPr>
          <p:cNvPr id="43" name="Text 31"/>
          <p:cNvSpPr/>
          <p:nvPr/>
        </p:nvSpPr>
        <p:spPr>
          <a:xfrm>
            <a:off x="7573975" y="6400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KPMG Academic Innovation 2026   ·   7/9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F8A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Native to the tools students already use.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account. No new app. Archon plugs into the university's existing Microsoft 365 tenant.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8A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26974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1F6F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Shape 5"/>
          <p:cNvSpPr/>
          <p:nvPr/>
        </p:nvSpPr>
        <p:spPr>
          <a:xfrm>
            <a:off x="1051560" y="2971800"/>
            <a:ext cx="868680" cy="868680"/>
          </a:xfrm>
          <a:prstGeom prst="ellipse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E2B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3182112"/>
            <a:ext cx="448056" cy="4480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33272" y="3977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 Entra ID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33272" y="4526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 (OIDC) with the student's existing university account.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630168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8A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30168" y="26974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1F6F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Shape 10"/>
          <p:cNvSpPr/>
          <p:nvPr/>
        </p:nvSpPr>
        <p:spPr>
          <a:xfrm>
            <a:off x="3904488" y="2971800"/>
            <a:ext cx="868680" cy="868680"/>
          </a:xfrm>
          <a:prstGeom prst="ellipse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E2B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3182112"/>
            <a:ext cx="448056" cy="4480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86200" y="3977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AI Foundry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886200" y="4526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for reasoning + Phi-4 for low-cost intent routing.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483096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8A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483096" y="26974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1F6F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9" name="Shape 15"/>
          <p:cNvSpPr/>
          <p:nvPr/>
        </p:nvSpPr>
        <p:spPr>
          <a:xfrm>
            <a:off x="6757416" y="2971800"/>
            <a:ext cx="868680" cy="868680"/>
          </a:xfrm>
          <a:prstGeom prst="ellipse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E2B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7728" y="3182112"/>
            <a:ext cx="448056" cy="4480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39128" y="3977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Cosmos DB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739128" y="4526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records + native vector search in one serverless store.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9336024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8A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9336024" y="26974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1F6F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5" name="Shape 20"/>
          <p:cNvSpPr/>
          <p:nvPr/>
        </p:nvSpPr>
        <p:spPr>
          <a:xfrm>
            <a:off x="9610344" y="2971800"/>
            <a:ext cx="868680" cy="868680"/>
          </a:xfrm>
          <a:prstGeom prst="ellipse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E2B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0656" y="3182112"/>
            <a:ext cx="448056" cy="44805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592056" y="3977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 Graph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9592056" y="4526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panel, Teams adaptive cards &amp; Outlook digests.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777240" y="5669280"/>
            <a:ext cx="10927080" cy="566928"/>
          </a:xfrm>
          <a:prstGeom prst="roundRect">
            <a:avLst>
              <a:gd name="adj" fmla="val 16129"/>
            </a:avLst>
          </a:prstGeom>
          <a:solidFill>
            <a:srgbClr val="0A2E2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0" name="Text 24"/>
          <p:cNvSpPr/>
          <p:nvPr/>
        </p:nvSpPr>
        <p:spPr>
          <a:xfrm>
            <a:off x="777240" y="5669280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BFE9E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Shipped on  </a:t>
            </a: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 16</a:t>
            </a:r>
            <a:r>
              <a:rPr lang="en-US" sz="1350" dirty="0">
                <a:solidFill>
                  <a:srgbClr val="BFE9E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·  full-stack monolith deployed on  </a:t>
            </a: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Vercel</a:t>
            </a:r>
            <a:r>
              <a:rPr lang="en-US" sz="1350" dirty="0">
                <a:solidFill>
                  <a:srgbClr val="BFE9E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(Serverless + Edge)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A2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ARCHON</a:t>
            </a:r>
            <a:r>
              <a:rPr lang="en-US" sz="950" kern="0" spc="100" dirty="0">
                <a:solidFill>
                  <a:srgbClr val="7C93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·   Axon Enjin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7573975" y="6400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KPMG Academic Innovation 2026   ·   8/9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4572000" cy="4572000"/>
          </a:xfrm>
          <a:prstGeom prst="ellipse">
            <a:avLst/>
          </a:prstGeom>
          <a:solidFill>
            <a:srgbClr val="1F8A7D">
              <a:alpha val="18000"/>
            </a:srgbClr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PAYOFF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cost center to resolution engine.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103F3A"/>
          </a:solidFill>
          <a:ln w="12700">
            <a:solidFill>
              <a:srgbClr val="176C61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/>
          <p:nvPr/>
        </p:nvSpPr>
        <p:spPr>
          <a:xfrm>
            <a:off x="960120" y="221284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4A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₱104 → ₱22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ticket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3832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≈79% lower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201168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103F3A"/>
          </a:solidFill>
          <a:ln w="12700">
            <a:solidFill>
              <a:srgbClr val="176C61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Text 8"/>
          <p:cNvSpPr/>
          <p:nvPr/>
        </p:nvSpPr>
        <p:spPr>
          <a:xfrm>
            <a:off x="4617720" y="221284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4A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≥30%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617720" y="30632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resolved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33832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zero-touch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2440" y="201168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103F3A"/>
          </a:solidFill>
          <a:ln w="12700">
            <a:solidFill>
              <a:srgbClr val="176C61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Text 12"/>
          <p:cNvSpPr/>
          <p:nvPr/>
        </p:nvSpPr>
        <p:spPr>
          <a:xfrm>
            <a:off x="8275320" y="221284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4A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24/7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275320" y="30632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75320" y="33832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languages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44348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Try Archon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95528" y="5029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open the live app on your phone.</a:t>
            </a:r>
            <a:endParaRPr lang="en-US" sz="1400" dirty="0"/>
          </a:p>
        </p:txBody>
      </p:sp>
      <p:pic>
        <p:nvPicPr>
          <p:cNvPr id="19" name="Image 0" descr="D:\PROJECTS\archon\client\public\web-app-manifest-512x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5532120"/>
            <a:ext cx="640080" cy="6400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554480" y="5532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Axon Enjin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554480" y="5852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 Torre · Sales Jr. · Tiu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144000" y="4389120"/>
            <a:ext cx="2103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E2B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4773168"/>
            <a:ext cx="1188720" cy="11887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144000" y="6035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C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your Vercel URL</a:t>
            </a:r>
            <a:endParaRPr lang="en-US" sz="9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2111332-5ACB-72C9-3EF0-1B835329D4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4389120"/>
            <a:ext cx="2103120" cy="2103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843</Words>
  <Application>Microsoft Office PowerPoint</Application>
  <PresentationFormat>Widescreen</PresentationFormat>
  <Paragraphs>166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Archon — KPMG Academic Innovation 2026</dc:title>
  <dc:subject>PptxGenJS Presentation</dc:subject>
  <dc:creator>Axon Enjin</dc:creator>
  <cp:lastModifiedBy>Carlos Jerico Dela Torre</cp:lastModifiedBy>
  <cp:revision>14</cp:revision>
  <dcterms:created xsi:type="dcterms:W3CDTF">2026-06-14T15:32:40Z</dcterms:created>
  <dcterms:modified xsi:type="dcterms:W3CDTF">2026-06-15T07:33:41Z</dcterms:modified>
</cp:coreProperties>
</file>